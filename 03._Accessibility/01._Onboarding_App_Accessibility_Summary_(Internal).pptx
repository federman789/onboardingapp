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8" r:id="rId3"/>
    <p:sldId id="272" r:id="rId4"/>
    <p:sldId id="262" r:id="rId5"/>
    <p:sldId id="273" r:id="rId6"/>
    <p:sldId id="284" r:id="rId7"/>
    <p:sldId id="276" r:id="rId8"/>
    <p:sldId id="263" r:id="rId9"/>
    <p:sldId id="266" r:id="rId10"/>
    <p:sldId id="278" r:id="rId11"/>
    <p:sldId id="280" r:id="rId12"/>
    <p:sldId id="281" r:id="rId13"/>
    <p:sldId id="269" r:id="rId14"/>
    <p:sldId id="265" r:id="rId15"/>
    <p:sldId id="282" r:id="rId16"/>
    <p:sldId id="28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880999-6CB8-49A3-AF61-FCF808759FE0}" v="10" dt="2026-01-28T18:22:41.7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derico   Leal Quintero" userId="33fa458c-48bb-483d-b6c4-5e33e789b225" providerId="ADAL" clId="{12537E50-C9EA-4147-B56A-811967D6F021}"/>
    <pc:docChg chg="undo custSel modSld">
      <pc:chgData name="Federico   Leal Quintero" userId="33fa458c-48bb-483d-b6c4-5e33e789b225" providerId="ADAL" clId="{12537E50-C9EA-4147-B56A-811967D6F021}" dt="2026-01-28T18:24:21.894" v="140" actId="1076"/>
      <pc:docMkLst>
        <pc:docMk/>
      </pc:docMkLst>
      <pc:sldChg chg="modSp mod">
        <pc:chgData name="Federico   Leal Quintero" userId="33fa458c-48bb-483d-b6c4-5e33e789b225" providerId="ADAL" clId="{12537E50-C9EA-4147-B56A-811967D6F021}" dt="2026-01-28T18:13:21.945" v="0" actId="6549"/>
        <pc:sldMkLst>
          <pc:docMk/>
          <pc:sldMk cId="2120624113" sldId="256"/>
        </pc:sldMkLst>
        <pc:spChg chg="mod">
          <ac:chgData name="Federico   Leal Quintero" userId="33fa458c-48bb-483d-b6c4-5e33e789b225" providerId="ADAL" clId="{12537E50-C9EA-4147-B56A-811967D6F021}" dt="2026-01-28T18:13:21.945" v="0" actId="6549"/>
          <ac:spMkLst>
            <pc:docMk/>
            <pc:sldMk cId="2120624113" sldId="256"/>
            <ac:spMk id="2" creationId="{5A7A9007-4D34-4601-B419-E1FF05B1D4D8}"/>
          </ac:spMkLst>
        </pc:spChg>
      </pc:sldChg>
      <pc:sldChg chg="modSp mod">
        <pc:chgData name="Federico   Leal Quintero" userId="33fa458c-48bb-483d-b6c4-5e33e789b225" providerId="ADAL" clId="{12537E50-C9EA-4147-B56A-811967D6F021}" dt="2026-01-28T18:24:21.894" v="140" actId="1076"/>
        <pc:sldMkLst>
          <pc:docMk/>
          <pc:sldMk cId="54620346" sldId="263"/>
        </pc:sldMkLst>
        <pc:picChg chg="mod modCrop">
          <ac:chgData name="Federico   Leal Quintero" userId="33fa458c-48bb-483d-b6c4-5e33e789b225" providerId="ADAL" clId="{12537E50-C9EA-4147-B56A-811967D6F021}" dt="2026-01-28T18:24:21.894" v="140" actId="1076"/>
          <ac:picMkLst>
            <pc:docMk/>
            <pc:sldMk cId="54620346" sldId="263"/>
            <ac:picMk id="4" creationId="{E5128232-1C0E-3AB5-8435-25B860F7F6F5}"/>
          </ac:picMkLst>
        </pc:picChg>
        <pc:picChg chg="mod modCrop">
          <ac:chgData name="Federico   Leal Quintero" userId="33fa458c-48bb-483d-b6c4-5e33e789b225" providerId="ADAL" clId="{12537E50-C9EA-4147-B56A-811967D6F021}" dt="2026-01-28T18:24:04.469" v="138" actId="1076"/>
          <ac:picMkLst>
            <pc:docMk/>
            <pc:sldMk cId="54620346" sldId="263"/>
            <ac:picMk id="6" creationId="{7357F248-D13E-D6D8-902E-F5449BE78448}"/>
          </ac:picMkLst>
        </pc:picChg>
      </pc:sldChg>
      <pc:sldChg chg="modSp mod">
        <pc:chgData name="Federico   Leal Quintero" userId="33fa458c-48bb-483d-b6c4-5e33e789b225" providerId="ADAL" clId="{12537E50-C9EA-4147-B56A-811967D6F021}" dt="2026-01-28T18:13:39.996" v="5" actId="20577"/>
        <pc:sldMkLst>
          <pc:docMk/>
          <pc:sldMk cId="4169370878" sldId="268"/>
        </pc:sldMkLst>
        <pc:spChg chg="mod">
          <ac:chgData name="Federico   Leal Quintero" userId="33fa458c-48bb-483d-b6c4-5e33e789b225" providerId="ADAL" clId="{12537E50-C9EA-4147-B56A-811967D6F021}" dt="2026-01-28T18:13:39.996" v="5" actId="20577"/>
          <ac:spMkLst>
            <pc:docMk/>
            <pc:sldMk cId="4169370878" sldId="268"/>
            <ac:spMk id="3" creationId="{DD92876A-6366-A62A-2965-AAE2EB11AFE9}"/>
          </ac:spMkLst>
        </pc:spChg>
      </pc:sldChg>
      <pc:sldChg chg="modSp mod">
        <pc:chgData name="Federico   Leal Quintero" userId="33fa458c-48bb-483d-b6c4-5e33e789b225" providerId="ADAL" clId="{12537E50-C9EA-4147-B56A-811967D6F021}" dt="2026-01-28T18:20:25.977" v="122" actId="207"/>
        <pc:sldMkLst>
          <pc:docMk/>
          <pc:sldMk cId="2491775246" sldId="269"/>
        </pc:sldMkLst>
        <pc:spChg chg="mod">
          <ac:chgData name="Federico   Leal Quintero" userId="33fa458c-48bb-483d-b6c4-5e33e789b225" providerId="ADAL" clId="{12537E50-C9EA-4147-B56A-811967D6F021}" dt="2026-01-28T18:20:25.977" v="122" actId="207"/>
          <ac:spMkLst>
            <pc:docMk/>
            <pc:sldMk cId="2491775246" sldId="269"/>
            <ac:spMk id="7" creationId="{326F540F-8D96-301E-B86C-4179B38AC7BD}"/>
          </ac:spMkLst>
        </pc:spChg>
      </pc:sldChg>
      <pc:sldChg chg="modSp mod">
        <pc:chgData name="Federico   Leal Quintero" userId="33fa458c-48bb-483d-b6c4-5e33e789b225" providerId="ADAL" clId="{12537E50-C9EA-4147-B56A-811967D6F021}" dt="2026-01-28T18:14:19.703" v="10" actId="6549"/>
        <pc:sldMkLst>
          <pc:docMk/>
          <pc:sldMk cId="2325182517" sldId="273"/>
        </pc:sldMkLst>
        <pc:spChg chg="mod">
          <ac:chgData name="Federico   Leal Quintero" userId="33fa458c-48bb-483d-b6c4-5e33e789b225" providerId="ADAL" clId="{12537E50-C9EA-4147-B56A-811967D6F021}" dt="2026-01-28T18:14:19.703" v="10" actId="6549"/>
          <ac:spMkLst>
            <pc:docMk/>
            <pc:sldMk cId="2325182517" sldId="273"/>
            <ac:spMk id="7" creationId="{FC6FA7A0-AD39-12C6-B9E4-185B3D95595B}"/>
          </ac:spMkLst>
        </pc:spChg>
      </pc:sldChg>
      <pc:sldChg chg="modSp mod">
        <pc:chgData name="Federico   Leal Quintero" userId="33fa458c-48bb-483d-b6c4-5e33e789b225" providerId="ADAL" clId="{12537E50-C9EA-4147-B56A-811967D6F021}" dt="2026-01-28T18:18:54.537" v="105" actId="27636"/>
        <pc:sldMkLst>
          <pc:docMk/>
          <pc:sldMk cId="1700880162" sldId="276"/>
        </pc:sldMkLst>
        <pc:spChg chg="mod">
          <ac:chgData name="Federico   Leal Quintero" userId="33fa458c-48bb-483d-b6c4-5e33e789b225" providerId="ADAL" clId="{12537E50-C9EA-4147-B56A-811967D6F021}" dt="2026-01-28T18:18:54.537" v="105" actId="27636"/>
          <ac:spMkLst>
            <pc:docMk/>
            <pc:sldMk cId="1700880162" sldId="276"/>
            <ac:spMk id="7" creationId="{326F540F-8D96-301E-B86C-4179B38AC7BD}"/>
          </ac:spMkLst>
        </pc:spChg>
      </pc:sldChg>
      <pc:sldChg chg="modSp mod">
        <pc:chgData name="Federico   Leal Quintero" userId="33fa458c-48bb-483d-b6c4-5e33e789b225" providerId="ADAL" clId="{12537E50-C9EA-4147-B56A-811967D6F021}" dt="2026-01-28T18:19:48.624" v="114" actId="207"/>
        <pc:sldMkLst>
          <pc:docMk/>
          <pc:sldMk cId="1562135069" sldId="278"/>
        </pc:sldMkLst>
        <pc:spChg chg="mod">
          <ac:chgData name="Federico   Leal Quintero" userId="33fa458c-48bb-483d-b6c4-5e33e789b225" providerId="ADAL" clId="{12537E50-C9EA-4147-B56A-811967D6F021}" dt="2026-01-28T18:19:48.624" v="114" actId="207"/>
          <ac:spMkLst>
            <pc:docMk/>
            <pc:sldMk cId="1562135069" sldId="278"/>
            <ac:spMk id="7" creationId="{326F540F-8D96-301E-B86C-4179B38AC7BD}"/>
          </ac:spMkLst>
        </pc:spChg>
      </pc:sldChg>
      <pc:sldChg chg="modSp mod">
        <pc:chgData name="Federico   Leal Quintero" userId="33fa458c-48bb-483d-b6c4-5e33e789b225" providerId="ADAL" clId="{12537E50-C9EA-4147-B56A-811967D6F021}" dt="2026-01-28T18:20:09.732" v="119" actId="207"/>
        <pc:sldMkLst>
          <pc:docMk/>
          <pc:sldMk cId="1566022877" sldId="280"/>
        </pc:sldMkLst>
        <pc:spChg chg="mod">
          <ac:chgData name="Federico   Leal Quintero" userId="33fa458c-48bb-483d-b6c4-5e33e789b225" providerId="ADAL" clId="{12537E50-C9EA-4147-B56A-811967D6F021}" dt="2026-01-28T18:20:09.732" v="119" actId="207"/>
          <ac:spMkLst>
            <pc:docMk/>
            <pc:sldMk cId="1566022877" sldId="280"/>
            <ac:spMk id="7" creationId="{326F540F-8D96-301E-B86C-4179B38AC7BD}"/>
          </ac:spMkLst>
        </pc:spChg>
      </pc:sldChg>
      <pc:sldChg chg="addSp delSp modSp mod">
        <pc:chgData name="Federico   Leal Quintero" userId="33fa458c-48bb-483d-b6c4-5e33e789b225" providerId="ADAL" clId="{12537E50-C9EA-4147-B56A-811967D6F021}" dt="2026-01-28T18:23:31.810" v="136" actId="1076"/>
        <pc:sldMkLst>
          <pc:docMk/>
          <pc:sldMk cId="3830129848" sldId="282"/>
        </pc:sldMkLst>
        <pc:spChg chg="add del mod">
          <ac:chgData name="Federico   Leal Quintero" userId="33fa458c-48bb-483d-b6c4-5e33e789b225" providerId="ADAL" clId="{12537E50-C9EA-4147-B56A-811967D6F021}" dt="2026-01-28T18:22:43.850" v="131" actId="11529"/>
          <ac:spMkLst>
            <pc:docMk/>
            <pc:sldMk cId="3830129848" sldId="282"/>
            <ac:spMk id="2" creationId="{86204573-A3F2-A3D3-F892-C6917F99CC26}"/>
          </ac:spMkLst>
        </pc:spChg>
        <pc:spChg chg="add mod">
          <ac:chgData name="Federico   Leal Quintero" userId="33fa458c-48bb-483d-b6c4-5e33e789b225" providerId="ADAL" clId="{12537E50-C9EA-4147-B56A-811967D6F021}" dt="2026-01-28T18:22:27.623" v="126"/>
          <ac:spMkLst>
            <pc:docMk/>
            <pc:sldMk cId="3830129848" sldId="282"/>
            <ac:spMk id="7" creationId="{69A21D41-2A3C-3C92-D267-8127837801E9}"/>
          </ac:spMkLst>
        </pc:spChg>
        <pc:picChg chg="mod modCrop">
          <ac:chgData name="Federico   Leal Quintero" userId="33fa458c-48bb-483d-b6c4-5e33e789b225" providerId="ADAL" clId="{12537E50-C9EA-4147-B56A-811967D6F021}" dt="2026-01-28T18:23:31.810" v="136" actId="1076"/>
          <ac:picMkLst>
            <pc:docMk/>
            <pc:sldMk cId="3830129848" sldId="282"/>
            <ac:picMk id="4" creationId="{78BAD203-6D86-5552-F3F0-81C41B61698E}"/>
          </ac:picMkLst>
        </pc:picChg>
        <pc:picChg chg="add mod">
          <ac:chgData name="Federico   Leal Quintero" userId="33fa458c-48bb-483d-b6c4-5e33e789b225" providerId="ADAL" clId="{12537E50-C9EA-4147-B56A-811967D6F021}" dt="2026-01-28T18:22:27.623" v="126"/>
          <ac:picMkLst>
            <pc:docMk/>
            <pc:sldMk cId="3830129848" sldId="282"/>
            <ac:picMk id="5" creationId="{38392820-875F-3066-8790-024DE7408C20}"/>
          </ac:picMkLst>
        </pc:picChg>
        <pc:picChg chg="mod">
          <ac:chgData name="Federico   Leal Quintero" userId="33fa458c-48bb-483d-b6c4-5e33e789b225" providerId="ADAL" clId="{12537E50-C9EA-4147-B56A-811967D6F021}" dt="2026-01-28T18:22:41.313" v="128" actId="1076"/>
          <ac:picMkLst>
            <pc:docMk/>
            <pc:sldMk cId="3830129848" sldId="282"/>
            <ac:picMk id="8" creationId="{0593A5B3-28BF-3F03-74A6-341DC8491ADD}"/>
          </ac:picMkLst>
        </pc:picChg>
      </pc:sldChg>
      <pc:sldChg chg="delSp modSp mod">
        <pc:chgData name="Federico   Leal Quintero" userId="33fa458c-48bb-483d-b6c4-5e33e789b225" providerId="ADAL" clId="{12537E50-C9EA-4147-B56A-811967D6F021}" dt="2026-01-28T18:14:42.308" v="12" actId="1076"/>
        <pc:sldMkLst>
          <pc:docMk/>
          <pc:sldMk cId="967154934" sldId="284"/>
        </pc:sldMkLst>
        <pc:spChg chg="mod">
          <ac:chgData name="Federico   Leal Quintero" userId="33fa458c-48bb-483d-b6c4-5e33e789b225" providerId="ADAL" clId="{12537E50-C9EA-4147-B56A-811967D6F021}" dt="2026-01-28T18:14:42.308" v="12" actId="1076"/>
          <ac:spMkLst>
            <pc:docMk/>
            <pc:sldMk cId="967154934" sldId="284"/>
            <ac:spMk id="8" creationId="{E1D43C8E-CB8F-0231-72B3-F94731365B2B}"/>
          </ac:spMkLst>
        </pc:spChg>
        <pc:picChg chg="del">
          <ac:chgData name="Federico   Leal Quintero" userId="33fa458c-48bb-483d-b6c4-5e33e789b225" providerId="ADAL" clId="{12537E50-C9EA-4147-B56A-811967D6F021}" dt="2026-01-28T18:14:39.392" v="11" actId="478"/>
          <ac:picMkLst>
            <pc:docMk/>
            <pc:sldMk cId="967154934" sldId="284"/>
            <ac:picMk id="5" creationId="{905617AE-E5CB-F9D7-7EB8-5F08A8E66F2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A091FBB0-188A-434B-9A86-048F3419BBCF}"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469A88-6B47-4EFE-BC38-09141226EE8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7224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91FBB0-188A-434B-9A86-048F3419BBCF}"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469A88-6B47-4EFE-BC38-09141226EE82}" type="slidenum">
              <a:rPr lang="en-US" smtClean="0"/>
              <a:t>‹#›</a:t>
            </a:fld>
            <a:endParaRPr lang="en-US"/>
          </a:p>
        </p:txBody>
      </p:sp>
    </p:spTree>
    <p:extLst>
      <p:ext uri="{BB962C8B-B14F-4D97-AF65-F5344CB8AC3E}">
        <p14:creationId xmlns:p14="http://schemas.microsoft.com/office/powerpoint/2010/main" val="4183769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91FBB0-188A-434B-9A86-048F3419BBCF}"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469A88-6B47-4EFE-BC38-09141226EE8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7638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091FBB0-188A-434B-9A86-048F3419BBCF}"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469A88-6B47-4EFE-BC38-09141226EE82}" type="slidenum">
              <a:rPr lang="en-US" smtClean="0"/>
              <a:t>‹#›</a:t>
            </a:fld>
            <a:endParaRPr lang="en-US"/>
          </a:p>
        </p:txBody>
      </p:sp>
    </p:spTree>
    <p:extLst>
      <p:ext uri="{BB962C8B-B14F-4D97-AF65-F5344CB8AC3E}">
        <p14:creationId xmlns:p14="http://schemas.microsoft.com/office/powerpoint/2010/main" val="2322579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091FBB0-188A-434B-9A86-048F3419BBCF}"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469A88-6B47-4EFE-BC38-09141226EE82}" type="slidenum">
              <a:rPr lang="en-US" smtClean="0"/>
              <a:t>‹#›</a:t>
            </a:fld>
            <a:endParaRPr lang="en-US"/>
          </a:p>
        </p:txBody>
      </p:sp>
    </p:spTree>
    <p:extLst>
      <p:ext uri="{BB962C8B-B14F-4D97-AF65-F5344CB8AC3E}">
        <p14:creationId xmlns:p14="http://schemas.microsoft.com/office/powerpoint/2010/main" val="3748514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091FBB0-188A-434B-9A86-048F3419BBCF}"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469A88-6B47-4EFE-BC38-09141226EE82}" type="slidenum">
              <a:rPr lang="en-US" smtClean="0"/>
              <a:t>‹#›</a:t>
            </a:fld>
            <a:endParaRPr lang="en-US"/>
          </a:p>
        </p:txBody>
      </p:sp>
    </p:spTree>
    <p:extLst>
      <p:ext uri="{BB962C8B-B14F-4D97-AF65-F5344CB8AC3E}">
        <p14:creationId xmlns:p14="http://schemas.microsoft.com/office/powerpoint/2010/main" val="1780451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91FBB0-188A-434B-9A86-048F3419BBCF}" type="datetimeFigureOut">
              <a:rPr lang="en-US" smtClean="0"/>
              <a:t>1/28/2026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0469A88-6B47-4EFE-BC38-09141226EE82}" type="slidenum">
              <a:rPr lang="en-US" smtClean="0"/>
              <a:t>‹#›</a:t>
            </a:fld>
            <a:endParaRPr lang="en-US"/>
          </a:p>
        </p:txBody>
      </p:sp>
    </p:spTree>
    <p:extLst>
      <p:ext uri="{BB962C8B-B14F-4D97-AF65-F5344CB8AC3E}">
        <p14:creationId xmlns:p14="http://schemas.microsoft.com/office/powerpoint/2010/main" val="2253483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91FBB0-188A-434B-9A86-048F3419BBCF}" type="datetimeFigureOut">
              <a:rPr lang="en-US" smtClean="0"/>
              <a:t>1/28/2026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0469A88-6B47-4EFE-BC38-09141226EE82}" type="slidenum">
              <a:rPr lang="en-US" smtClean="0"/>
              <a:t>‹#›</a:t>
            </a:fld>
            <a:endParaRPr lang="en-US"/>
          </a:p>
        </p:txBody>
      </p:sp>
    </p:spTree>
    <p:extLst>
      <p:ext uri="{BB962C8B-B14F-4D97-AF65-F5344CB8AC3E}">
        <p14:creationId xmlns:p14="http://schemas.microsoft.com/office/powerpoint/2010/main" val="2792514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91FBB0-188A-434B-9A86-048F3419BBCF}"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469A88-6B47-4EFE-BC38-09141226EE82}" type="slidenum">
              <a:rPr lang="en-US" smtClean="0"/>
              <a:t>‹#›</a:t>
            </a:fld>
            <a:endParaRPr lang="en-US"/>
          </a:p>
        </p:txBody>
      </p:sp>
    </p:spTree>
    <p:extLst>
      <p:ext uri="{BB962C8B-B14F-4D97-AF65-F5344CB8AC3E}">
        <p14:creationId xmlns:p14="http://schemas.microsoft.com/office/powerpoint/2010/main" val="4252941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91FBB0-188A-434B-9A86-048F3419BBCF}"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469A88-6B47-4EFE-BC38-09141226EE82}" type="slidenum">
              <a:rPr lang="en-US" smtClean="0"/>
              <a:t>‹#›</a:t>
            </a:fld>
            <a:endParaRPr lang="en-US"/>
          </a:p>
        </p:txBody>
      </p:sp>
    </p:spTree>
    <p:extLst>
      <p:ext uri="{BB962C8B-B14F-4D97-AF65-F5344CB8AC3E}">
        <p14:creationId xmlns:p14="http://schemas.microsoft.com/office/powerpoint/2010/main" val="165528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91FBB0-188A-434B-9A86-048F3419BBCF}"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469A88-6B47-4EFE-BC38-09141226EE82}" type="slidenum">
              <a:rPr lang="en-US" smtClean="0"/>
              <a:t>‹#›</a:t>
            </a:fld>
            <a:endParaRPr lang="en-US"/>
          </a:p>
        </p:txBody>
      </p:sp>
    </p:spTree>
    <p:extLst>
      <p:ext uri="{BB962C8B-B14F-4D97-AF65-F5344CB8AC3E}">
        <p14:creationId xmlns:p14="http://schemas.microsoft.com/office/powerpoint/2010/main" val="505244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091FBB0-188A-434B-9A86-048F3419BBCF}" type="datetimeFigureOut">
              <a:rPr lang="en-US" smtClean="0"/>
              <a:t>1/28/2026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0469A88-6B47-4EFE-BC38-09141226EE8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3916572"/>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hyperlink" Target="https://www.w3.org/WAI/WCAG21/Understanding/contrast-minimum.html"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www.tpgi.com/color-contrast-checker/" TargetMode="External"/><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nvaccess.org/download/" TargetMode="Externa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hyperlink" Target="https://www.w3.org/WAI/tips/designing/"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A9007-4D34-4601-B419-E1FF05B1D4D8}"/>
              </a:ext>
            </a:extLst>
          </p:cNvPr>
          <p:cNvSpPr>
            <a:spLocks noGrp="1"/>
          </p:cNvSpPr>
          <p:nvPr>
            <p:ph type="ctrTitle"/>
          </p:nvPr>
        </p:nvSpPr>
        <p:spPr/>
        <p:txBody>
          <a:bodyPr>
            <a:normAutofit/>
          </a:bodyPr>
          <a:lstStyle/>
          <a:p>
            <a:r>
              <a:rPr lang="en-US" dirty="0">
                <a:solidFill>
                  <a:schemeClr val="bg1"/>
                </a:solidFill>
                <a:latin typeface="Segoe UI" panose="020B0502040204020203" pitchFamily="34" charset="0"/>
                <a:cs typeface="Segoe UI" panose="020B0502040204020203" pitchFamily="34" charset="0"/>
              </a:rPr>
              <a:t>Academy App Accessibility Standards</a:t>
            </a:r>
          </a:p>
        </p:txBody>
      </p:sp>
    </p:spTree>
    <p:extLst>
      <p:ext uri="{BB962C8B-B14F-4D97-AF65-F5344CB8AC3E}">
        <p14:creationId xmlns:p14="http://schemas.microsoft.com/office/powerpoint/2010/main" val="2120624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0382B33B-8B8C-4BC2-B46C-78D57C4639DC}"/>
              </a:ext>
            </a:extLst>
          </p:cNvPr>
          <p:cNvSpPr txBox="1"/>
          <p:nvPr/>
        </p:nvSpPr>
        <p:spPr>
          <a:xfrm>
            <a:off x="759853" y="309093"/>
            <a:ext cx="6989455" cy="584775"/>
          </a:xfrm>
          <a:prstGeom prst="rect">
            <a:avLst/>
          </a:prstGeom>
          <a:noFill/>
        </p:spPr>
        <p:txBody>
          <a:bodyPr wrap="square" rtlCol="0">
            <a:spAutoFit/>
          </a:bodyPr>
          <a:lstStyle/>
          <a:p>
            <a:r>
              <a:rPr lang="en-US" sz="3200" u="sng">
                <a:solidFill>
                  <a:schemeClr val="bg1"/>
                </a:solidFill>
              </a:rPr>
              <a:t>Business scenario</a:t>
            </a:r>
          </a:p>
        </p:txBody>
      </p:sp>
      <p:sp>
        <p:nvSpPr>
          <p:cNvPr id="3" name="Content Placeholder 2">
            <a:extLst>
              <a:ext uri="{FF2B5EF4-FFF2-40B4-BE49-F238E27FC236}">
                <a16:creationId xmlns:a16="http://schemas.microsoft.com/office/drawing/2014/main" id="{DD92876A-6366-A62A-2965-AAE2EB11AFE9}"/>
              </a:ext>
            </a:extLst>
          </p:cNvPr>
          <p:cNvSpPr>
            <a:spLocks noGrp="1"/>
          </p:cNvSpPr>
          <p:nvPr>
            <p:ph idx="1"/>
          </p:nvPr>
        </p:nvSpPr>
        <p:spPr>
          <a:xfrm>
            <a:off x="759853" y="1273080"/>
            <a:ext cx="10058400" cy="4610484"/>
          </a:xfrm>
        </p:spPr>
        <p:txBody>
          <a:bodyPr>
            <a:normAutofit/>
          </a:bodyPr>
          <a:lstStyle/>
          <a:p>
            <a:pPr>
              <a:buFont typeface="Arial" panose="020B0604020202020204" pitchFamily="34" charset="0"/>
              <a:buChar char="•"/>
            </a:pPr>
            <a:r>
              <a:rPr lang="en-US" dirty="0">
                <a:solidFill>
                  <a:schemeClr val="bg1"/>
                </a:solidFill>
              </a:rPr>
              <a:t>High expectations</a:t>
            </a:r>
          </a:p>
          <a:p>
            <a:pPr lvl="1">
              <a:buFont typeface="Arial" panose="020B0604020202020204" pitchFamily="34" charset="0"/>
              <a:buChar char="•"/>
            </a:pPr>
            <a:r>
              <a:rPr lang="en-US" dirty="0">
                <a:solidFill>
                  <a:schemeClr val="bg1"/>
                </a:solidFill>
              </a:rPr>
              <a:t>Large project: Multiple stakeholders/teams involved, high volume of users</a:t>
            </a:r>
          </a:p>
          <a:p>
            <a:pPr lvl="1">
              <a:buFont typeface="Arial" panose="020B0604020202020204" pitchFamily="34" charset="0"/>
              <a:buChar char="•"/>
            </a:pPr>
            <a:r>
              <a:rPr lang="en-US" dirty="0">
                <a:solidFill>
                  <a:schemeClr val="bg1"/>
                </a:solidFill>
              </a:rPr>
              <a:t>No exceptions: Only an accessible app would go live</a:t>
            </a:r>
          </a:p>
          <a:p>
            <a:pPr>
              <a:buFont typeface="Arial" panose="020B0604020202020204" pitchFamily="34" charset="0"/>
              <a:buChar char="•"/>
            </a:pPr>
            <a:r>
              <a:rPr lang="en-US" dirty="0">
                <a:solidFill>
                  <a:schemeClr val="bg1"/>
                </a:solidFill>
              </a:rPr>
              <a:t>Not an easy task</a:t>
            </a:r>
          </a:p>
          <a:p>
            <a:pPr lvl="1">
              <a:buFont typeface="Arial" panose="020B0604020202020204" pitchFamily="34" charset="0"/>
              <a:buChar char="•"/>
            </a:pPr>
            <a:r>
              <a:rPr lang="en-US" dirty="0">
                <a:solidFill>
                  <a:schemeClr val="bg1"/>
                </a:solidFill>
              </a:rPr>
              <a:t>We knew from the experience with the Legacy App that it wasn’t going to be easy</a:t>
            </a:r>
          </a:p>
          <a:p>
            <a:pPr lvl="1">
              <a:buFont typeface="Arial" panose="020B0604020202020204" pitchFamily="34" charset="0"/>
              <a:buChar char="•"/>
            </a:pPr>
            <a:r>
              <a:rPr lang="en-US" dirty="0">
                <a:solidFill>
                  <a:schemeClr val="bg1"/>
                </a:solidFill>
              </a:rPr>
              <a:t>Challenging accessibility standards to be met </a:t>
            </a:r>
            <a:r>
              <a:rPr lang="en-US" i="1" dirty="0">
                <a:solidFill>
                  <a:schemeClr val="bg1"/>
                </a:solidFill>
              </a:rPr>
              <a:t>(next slide)</a:t>
            </a:r>
          </a:p>
          <a:p>
            <a:pPr lvl="1">
              <a:buFont typeface="Arial" panose="020B0604020202020204" pitchFamily="34" charset="0"/>
              <a:buChar char="•"/>
            </a:pPr>
            <a:r>
              <a:rPr lang="en-US" dirty="0">
                <a:solidFill>
                  <a:schemeClr val="bg1"/>
                </a:solidFill>
              </a:rPr>
              <a:t>Not everything would be met: Power Apps limitations</a:t>
            </a:r>
          </a:p>
          <a:p>
            <a:pPr>
              <a:buFont typeface="Arial" panose="020B0604020202020204" pitchFamily="34" charset="0"/>
              <a:buChar char="•"/>
            </a:pPr>
            <a:r>
              <a:rPr lang="en-US" dirty="0">
                <a:solidFill>
                  <a:schemeClr val="bg1"/>
                </a:solidFill>
              </a:rPr>
              <a:t>Short timeframe</a:t>
            </a:r>
          </a:p>
          <a:p>
            <a:pPr lvl="1">
              <a:buFont typeface="Arial" panose="020B0604020202020204" pitchFamily="34" charset="0"/>
              <a:buChar char="•"/>
            </a:pPr>
            <a:r>
              <a:rPr lang="en-US" dirty="0">
                <a:solidFill>
                  <a:schemeClr val="bg1"/>
                </a:solidFill>
              </a:rPr>
              <a:t>We started building definitions starting June</a:t>
            </a:r>
          </a:p>
          <a:p>
            <a:pPr lvl="1">
              <a:buFont typeface="Arial" panose="020B0604020202020204" pitchFamily="34" charset="0"/>
              <a:buChar char="•"/>
            </a:pPr>
            <a:r>
              <a:rPr lang="en-US" dirty="0">
                <a:solidFill>
                  <a:schemeClr val="bg1"/>
                </a:solidFill>
              </a:rPr>
              <a:t>Deadline for D+ grade: mid September</a:t>
            </a:r>
          </a:p>
          <a:p>
            <a:pPr lvl="2">
              <a:buFont typeface="Arial" panose="020B0604020202020204" pitchFamily="34" charset="0"/>
              <a:buChar char="•"/>
            </a:pPr>
            <a:r>
              <a:rPr lang="en-US" dirty="0">
                <a:solidFill>
                  <a:schemeClr val="bg1"/>
                </a:solidFill>
              </a:rPr>
              <a:t>No open ‘High’ severity bugs, which are not product dependent (PowerApps limitations)</a:t>
            </a:r>
          </a:p>
          <a:p>
            <a:pPr lvl="2">
              <a:buFont typeface="Arial" panose="020B0604020202020204" pitchFamily="34" charset="0"/>
              <a:buChar char="•"/>
            </a:pPr>
            <a:r>
              <a:rPr lang="en-US" dirty="0">
                <a:solidFill>
                  <a:schemeClr val="bg1"/>
                </a:solidFill>
              </a:rPr>
              <a:t>Needed to submit an exception request and get approval</a:t>
            </a:r>
          </a:p>
        </p:txBody>
      </p:sp>
    </p:spTree>
    <p:extLst>
      <p:ext uri="{BB962C8B-B14F-4D97-AF65-F5344CB8AC3E}">
        <p14:creationId xmlns:p14="http://schemas.microsoft.com/office/powerpoint/2010/main" val="4169370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0382B33B-8B8C-4BC2-B46C-78D57C4639DC}"/>
              </a:ext>
            </a:extLst>
          </p:cNvPr>
          <p:cNvSpPr txBox="1"/>
          <p:nvPr/>
        </p:nvSpPr>
        <p:spPr>
          <a:xfrm>
            <a:off x="759853" y="309093"/>
            <a:ext cx="6989455" cy="584775"/>
          </a:xfrm>
          <a:prstGeom prst="rect">
            <a:avLst/>
          </a:prstGeom>
          <a:noFill/>
        </p:spPr>
        <p:txBody>
          <a:bodyPr wrap="square" rtlCol="0">
            <a:spAutoFit/>
          </a:bodyPr>
          <a:lstStyle/>
          <a:p>
            <a:r>
              <a:rPr lang="en-US" sz="3200" u="sng">
                <a:solidFill>
                  <a:schemeClr val="bg1"/>
                </a:solidFill>
              </a:rPr>
              <a:t>High level Timeline</a:t>
            </a:r>
          </a:p>
        </p:txBody>
      </p:sp>
      <p:cxnSp>
        <p:nvCxnSpPr>
          <p:cNvPr id="6" name="Straight Arrow Connector 5">
            <a:extLst>
              <a:ext uri="{FF2B5EF4-FFF2-40B4-BE49-F238E27FC236}">
                <a16:creationId xmlns:a16="http://schemas.microsoft.com/office/drawing/2014/main" id="{4048CDAA-DD21-F5BE-D26D-83A259D240D0}"/>
              </a:ext>
            </a:extLst>
          </p:cNvPr>
          <p:cNvCxnSpPr/>
          <p:nvPr/>
        </p:nvCxnSpPr>
        <p:spPr>
          <a:xfrm>
            <a:off x="683491" y="3223491"/>
            <a:ext cx="9772073"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8FD9247-51C0-7FFA-6E0D-2155C2D22370}"/>
              </a:ext>
            </a:extLst>
          </p:cNvPr>
          <p:cNvSpPr/>
          <p:nvPr/>
        </p:nvSpPr>
        <p:spPr>
          <a:xfrm>
            <a:off x="646544" y="3131127"/>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C7305D2-01B3-3B82-E7D9-1394246A1D08}"/>
              </a:ext>
            </a:extLst>
          </p:cNvPr>
          <p:cNvSpPr txBox="1"/>
          <p:nvPr/>
        </p:nvSpPr>
        <p:spPr>
          <a:xfrm>
            <a:off x="135772" y="3515359"/>
            <a:ext cx="1387303" cy="646331"/>
          </a:xfrm>
          <a:prstGeom prst="rect">
            <a:avLst/>
          </a:prstGeom>
          <a:noFill/>
        </p:spPr>
        <p:txBody>
          <a:bodyPr wrap="square" rtlCol="0">
            <a:spAutoFit/>
          </a:bodyPr>
          <a:lstStyle/>
          <a:p>
            <a:r>
              <a:rPr lang="en-US" sz="1200">
                <a:solidFill>
                  <a:schemeClr val="bg1"/>
                </a:solidFill>
              </a:rPr>
              <a:t>5/23:</a:t>
            </a:r>
          </a:p>
          <a:p>
            <a:r>
              <a:rPr lang="en-US" sz="1200">
                <a:solidFill>
                  <a:schemeClr val="bg1"/>
                </a:solidFill>
              </a:rPr>
              <a:t>Project definitions started</a:t>
            </a:r>
          </a:p>
        </p:txBody>
      </p:sp>
      <p:sp>
        <p:nvSpPr>
          <p:cNvPr id="9" name="TextBox 8">
            <a:extLst>
              <a:ext uri="{FF2B5EF4-FFF2-40B4-BE49-F238E27FC236}">
                <a16:creationId xmlns:a16="http://schemas.microsoft.com/office/drawing/2014/main" id="{88C6F401-493B-699C-CD27-0BD3192BD8D7}"/>
              </a:ext>
            </a:extLst>
          </p:cNvPr>
          <p:cNvSpPr txBox="1"/>
          <p:nvPr/>
        </p:nvSpPr>
        <p:spPr>
          <a:xfrm>
            <a:off x="1334653" y="3519055"/>
            <a:ext cx="1907311" cy="1384995"/>
          </a:xfrm>
          <a:prstGeom prst="rect">
            <a:avLst/>
          </a:prstGeom>
          <a:noFill/>
        </p:spPr>
        <p:txBody>
          <a:bodyPr wrap="square" rtlCol="0">
            <a:spAutoFit/>
          </a:bodyPr>
          <a:lstStyle/>
          <a:p>
            <a:r>
              <a:rPr lang="en-US" sz="1200">
                <a:solidFill>
                  <a:schemeClr val="bg1"/>
                </a:solidFill>
              </a:rPr>
              <a:t>6/1: </a:t>
            </a:r>
          </a:p>
          <a:p>
            <a:pPr marL="285750" indent="-285750">
              <a:buFont typeface="Arial" panose="020B0604020202020204" pitchFamily="34" charset="0"/>
              <a:buChar char="•"/>
            </a:pPr>
            <a:r>
              <a:rPr lang="en-US" sz="1200">
                <a:solidFill>
                  <a:schemeClr val="bg1"/>
                </a:solidFill>
              </a:rPr>
              <a:t>Initial design provided by design team</a:t>
            </a:r>
          </a:p>
          <a:p>
            <a:pPr marL="285750" indent="-285750">
              <a:buFont typeface="Arial" panose="020B0604020202020204" pitchFamily="34" charset="0"/>
              <a:buChar char="•"/>
            </a:pPr>
            <a:r>
              <a:rPr lang="en-US" sz="1200">
                <a:solidFill>
                  <a:schemeClr val="bg1"/>
                </a:solidFill>
              </a:rPr>
              <a:t>Initial conversations with accessibility team started</a:t>
            </a:r>
          </a:p>
          <a:p>
            <a:pPr marL="285750" indent="-285750">
              <a:buFont typeface="Arial" panose="020B0604020202020204" pitchFamily="34" charset="0"/>
              <a:buChar char="•"/>
            </a:pPr>
            <a:r>
              <a:rPr lang="en-US" sz="1200">
                <a:solidFill>
                  <a:schemeClr val="bg1"/>
                </a:solidFill>
              </a:rPr>
              <a:t>Front end dev started</a:t>
            </a:r>
          </a:p>
        </p:txBody>
      </p:sp>
      <p:sp>
        <p:nvSpPr>
          <p:cNvPr id="10" name="Oval 9">
            <a:extLst>
              <a:ext uri="{FF2B5EF4-FFF2-40B4-BE49-F238E27FC236}">
                <a16:creationId xmlns:a16="http://schemas.microsoft.com/office/drawing/2014/main" id="{575CA6D3-3598-A6D2-60D9-1735E32F591D}"/>
              </a:ext>
            </a:extLst>
          </p:cNvPr>
          <p:cNvSpPr/>
          <p:nvPr/>
        </p:nvSpPr>
        <p:spPr>
          <a:xfrm>
            <a:off x="1390069" y="3134823"/>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B001239-5B65-F358-931E-AA23FD5CD7CE}"/>
              </a:ext>
            </a:extLst>
          </p:cNvPr>
          <p:cNvSpPr/>
          <p:nvPr/>
        </p:nvSpPr>
        <p:spPr>
          <a:xfrm>
            <a:off x="3870033" y="3136207"/>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5CCCC75-7E38-43E7-A4C5-E983752AADF0}"/>
              </a:ext>
            </a:extLst>
          </p:cNvPr>
          <p:cNvSpPr txBox="1"/>
          <p:nvPr/>
        </p:nvSpPr>
        <p:spPr>
          <a:xfrm>
            <a:off x="3560928" y="3519055"/>
            <a:ext cx="1387303" cy="1754326"/>
          </a:xfrm>
          <a:prstGeom prst="rect">
            <a:avLst/>
          </a:prstGeom>
          <a:noFill/>
        </p:spPr>
        <p:txBody>
          <a:bodyPr wrap="square" rtlCol="0">
            <a:spAutoFit/>
          </a:bodyPr>
          <a:lstStyle/>
          <a:p>
            <a:r>
              <a:rPr lang="en-US" sz="1200">
                <a:solidFill>
                  <a:schemeClr val="bg1"/>
                </a:solidFill>
              </a:rPr>
              <a:t>7/15: </a:t>
            </a:r>
          </a:p>
          <a:p>
            <a:r>
              <a:rPr lang="en-US" sz="1200">
                <a:solidFill>
                  <a:schemeClr val="bg1"/>
                </a:solidFill>
              </a:rPr>
              <a:t>First submission of app to accessibility team</a:t>
            </a:r>
          </a:p>
          <a:p>
            <a:r>
              <a:rPr lang="en-US" sz="1200">
                <a:solidFill>
                  <a:schemeClr val="bg1"/>
                </a:solidFill>
              </a:rPr>
              <a:t>7/19:</a:t>
            </a:r>
          </a:p>
          <a:p>
            <a:r>
              <a:rPr lang="en-US" sz="1200">
                <a:solidFill>
                  <a:schemeClr val="bg1"/>
                </a:solidFill>
              </a:rPr>
              <a:t>Inclusive design consult PPT provided by Accessibility team</a:t>
            </a:r>
          </a:p>
        </p:txBody>
      </p:sp>
      <p:sp>
        <p:nvSpPr>
          <p:cNvPr id="13" name="Oval 12">
            <a:extLst>
              <a:ext uri="{FF2B5EF4-FFF2-40B4-BE49-F238E27FC236}">
                <a16:creationId xmlns:a16="http://schemas.microsoft.com/office/drawing/2014/main" id="{B9BF4B34-40E7-2CC3-48BA-9A12DF5E68C4}"/>
              </a:ext>
            </a:extLst>
          </p:cNvPr>
          <p:cNvSpPr/>
          <p:nvPr/>
        </p:nvSpPr>
        <p:spPr>
          <a:xfrm>
            <a:off x="4255194" y="3131127"/>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CDA7DA8-7FD8-6B93-2933-BCB06E650CF7}"/>
              </a:ext>
            </a:extLst>
          </p:cNvPr>
          <p:cNvSpPr/>
          <p:nvPr/>
        </p:nvSpPr>
        <p:spPr>
          <a:xfrm>
            <a:off x="5913120" y="3131127"/>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3B6013F-49FE-B0DF-7B7E-2605FC51EBFF}"/>
              </a:ext>
            </a:extLst>
          </p:cNvPr>
          <p:cNvSpPr txBox="1"/>
          <p:nvPr/>
        </p:nvSpPr>
        <p:spPr>
          <a:xfrm>
            <a:off x="5478087" y="3543994"/>
            <a:ext cx="1674244" cy="2123658"/>
          </a:xfrm>
          <a:prstGeom prst="rect">
            <a:avLst/>
          </a:prstGeom>
          <a:noFill/>
        </p:spPr>
        <p:txBody>
          <a:bodyPr wrap="square" rtlCol="0">
            <a:spAutoFit/>
          </a:bodyPr>
          <a:lstStyle/>
          <a:p>
            <a:r>
              <a:rPr lang="en-US" sz="1200">
                <a:solidFill>
                  <a:schemeClr val="bg1"/>
                </a:solidFill>
              </a:rPr>
              <a:t>8/9: </a:t>
            </a:r>
          </a:p>
          <a:p>
            <a:r>
              <a:rPr lang="en-US" sz="1200">
                <a:solidFill>
                  <a:schemeClr val="bg1"/>
                </a:solidFill>
              </a:rPr>
              <a:t>Second submission of app to accessibility team</a:t>
            </a:r>
          </a:p>
          <a:p>
            <a:r>
              <a:rPr lang="en-US" sz="1200">
                <a:solidFill>
                  <a:schemeClr val="bg1"/>
                </a:solidFill>
              </a:rPr>
              <a:t>8/16:</a:t>
            </a:r>
          </a:p>
          <a:p>
            <a:r>
              <a:rPr lang="en-US" sz="1200">
                <a:solidFill>
                  <a:schemeClr val="bg1"/>
                </a:solidFill>
              </a:rPr>
              <a:t>Accessibility feedback completed: </a:t>
            </a:r>
            <a:r>
              <a:rPr lang="en-US" sz="1200" b="1">
                <a:solidFill>
                  <a:schemeClr val="bg1"/>
                </a:solidFill>
              </a:rPr>
              <a:t>45 bugs, 19 high severity</a:t>
            </a:r>
          </a:p>
          <a:p>
            <a:r>
              <a:rPr lang="en-US" sz="1200" b="1">
                <a:solidFill>
                  <a:schemeClr val="bg1"/>
                </a:solidFill>
              </a:rPr>
              <a:t>Evolved into:</a:t>
            </a:r>
          </a:p>
          <a:p>
            <a:r>
              <a:rPr lang="en-US" sz="1200" b="1">
                <a:solidFill>
                  <a:schemeClr val="bg1"/>
                </a:solidFill>
              </a:rPr>
              <a:t>83 Bugs logged in ADO, 34 high severity</a:t>
            </a:r>
          </a:p>
        </p:txBody>
      </p:sp>
      <p:sp>
        <p:nvSpPr>
          <p:cNvPr id="16" name="Oval 15">
            <a:extLst>
              <a:ext uri="{FF2B5EF4-FFF2-40B4-BE49-F238E27FC236}">
                <a16:creationId xmlns:a16="http://schemas.microsoft.com/office/drawing/2014/main" id="{C298FBD0-695A-A954-74F4-92B912256046}"/>
              </a:ext>
            </a:extLst>
          </p:cNvPr>
          <p:cNvSpPr/>
          <p:nvPr/>
        </p:nvSpPr>
        <p:spPr>
          <a:xfrm>
            <a:off x="6223769" y="3131127"/>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AA4DDC8-2438-5403-9C08-A54EFA166FF1}"/>
              </a:ext>
            </a:extLst>
          </p:cNvPr>
          <p:cNvSpPr txBox="1"/>
          <p:nvPr/>
        </p:nvSpPr>
        <p:spPr>
          <a:xfrm>
            <a:off x="9618442" y="3543994"/>
            <a:ext cx="1674244" cy="1384995"/>
          </a:xfrm>
          <a:prstGeom prst="rect">
            <a:avLst/>
          </a:prstGeom>
          <a:noFill/>
        </p:spPr>
        <p:txBody>
          <a:bodyPr wrap="square" rtlCol="0">
            <a:spAutoFit/>
          </a:bodyPr>
          <a:lstStyle/>
          <a:p>
            <a:r>
              <a:rPr lang="en-US" sz="1200">
                <a:solidFill>
                  <a:schemeClr val="bg1"/>
                </a:solidFill>
              </a:rPr>
              <a:t>9/14: </a:t>
            </a:r>
          </a:p>
          <a:p>
            <a:r>
              <a:rPr lang="en-US" sz="1200">
                <a:solidFill>
                  <a:schemeClr val="bg1"/>
                </a:solidFill>
              </a:rPr>
              <a:t>D+ exception request</a:t>
            </a:r>
          </a:p>
          <a:p>
            <a:r>
              <a:rPr lang="en-US" sz="1200">
                <a:solidFill>
                  <a:schemeClr val="bg1"/>
                </a:solidFill>
              </a:rPr>
              <a:t>9/21:</a:t>
            </a:r>
          </a:p>
          <a:p>
            <a:r>
              <a:rPr lang="en-US" sz="1200">
                <a:solidFill>
                  <a:schemeClr val="bg1"/>
                </a:solidFill>
              </a:rPr>
              <a:t>Accessibility D+ grade granted. Good to launch</a:t>
            </a:r>
          </a:p>
          <a:p>
            <a:r>
              <a:rPr lang="en-US" sz="1200">
                <a:solidFill>
                  <a:schemeClr val="bg1"/>
                </a:solidFill>
              </a:rPr>
              <a:t>9/26: App launch </a:t>
            </a:r>
          </a:p>
        </p:txBody>
      </p:sp>
      <p:sp>
        <p:nvSpPr>
          <p:cNvPr id="18" name="Star: 5 Points 17">
            <a:extLst>
              <a:ext uri="{FF2B5EF4-FFF2-40B4-BE49-F238E27FC236}">
                <a16:creationId xmlns:a16="http://schemas.microsoft.com/office/drawing/2014/main" id="{30E8CB6E-D60A-AAD6-BDA0-EF53B3527BD1}"/>
              </a:ext>
            </a:extLst>
          </p:cNvPr>
          <p:cNvSpPr/>
          <p:nvPr/>
        </p:nvSpPr>
        <p:spPr>
          <a:xfrm>
            <a:off x="9685563" y="3017983"/>
            <a:ext cx="365760" cy="36576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21522525-F332-4A41-E8C5-20EC8D360946}"/>
              </a:ext>
            </a:extLst>
          </p:cNvPr>
          <p:cNvCxnSpPr/>
          <p:nvPr/>
        </p:nvCxnSpPr>
        <p:spPr>
          <a:xfrm>
            <a:off x="6289964" y="2314908"/>
            <a:ext cx="3482109" cy="0"/>
          </a:xfrm>
          <a:prstGeom prst="line">
            <a:avLst/>
          </a:prstGeom>
          <a:ln w="165100"/>
        </p:spPr>
        <p:style>
          <a:lnRef idx="1">
            <a:schemeClr val="accent4"/>
          </a:lnRef>
          <a:fillRef idx="0">
            <a:schemeClr val="accent4"/>
          </a:fillRef>
          <a:effectRef idx="0">
            <a:schemeClr val="accent4"/>
          </a:effectRef>
          <a:fontRef idx="minor">
            <a:schemeClr val="tx1"/>
          </a:fontRef>
        </p:style>
      </p:cxnSp>
      <p:sp>
        <p:nvSpPr>
          <p:cNvPr id="21" name="TextBox 20">
            <a:extLst>
              <a:ext uri="{FF2B5EF4-FFF2-40B4-BE49-F238E27FC236}">
                <a16:creationId xmlns:a16="http://schemas.microsoft.com/office/drawing/2014/main" id="{1190982F-8D6E-CB39-6097-B33A787BE592}"/>
              </a:ext>
            </a:extLst>
          </p:cNvPr>
          <p:cNvSpPr txBox="1"/>
          <p:nvPr/>
        </p:nvSpPr>
        <p:spPr>
          <a:xfrm>
            <a:off x="6245019" y="1406326"/>
            <a:ext cx="3527054" cy="830997"/>
          </a:xfrm>
          <a:prstGeom prst="rect">
            <a:avLst/>
          </a:prstGeom>
          <a:noFill/>
        </p:spPr>
        <p:txBody>
          <a:bodyPr wrap="square" rtlCol="0">
            <a:spAutoFit/>
          </a:bodyPr>
          <a:lstStyle/>
          <a:p>
            <a:r>
              <a:rPr lang="en-US" sz="1200" b="1">
                <a:solidFill>
                  <a:schemeClr val="bg1"/>
                </a:solidFill>
              </a:rPr>
              <a:t>Bug fixing: </a:t>
            </a:r>
          </a:p>
          <a:p>
            <a:pPr marL="171450" indent="-171450" algn="ctr">
              <a:buFont typeface="Arial" panose="020B0604020202020204" pitchFamily="34" charset="0"/>
              <a:buChar char="•"/>
            </a:pPr>
            <a:r>
              <a:rPr lang="en-US" sz="1200">
                <a:solidFill>
                  <a:schemeClr val="bg1"/>
                </a:solidFill>
              </a:rPr>
              <a:t>Internal alignment</a:t>
            </a:r>
          </a:p>
          <a:p>
            <a:pPr marL="171450" indent="-171450" algn="ctr">
              <a:buFont typeface="Arial" panose="020B0604020202020204" pitchFamily="34" charset="0"/>
              <a:buChar char="•"/>
            </a:pPr>
            <a:r>
              <a:rPr lang="en-US" sz="1200">
                <a:solidFill>
                  <a:schemeClr val="bg1"/>
                </a:solidFill>
              </a:rPr>
              <a:t>Lots of research</a:t>
            </a:r>
          </a:p>
          <a:p>
            <a:pPr marL="171450" indent="-171450" algn="ctr">
              <a:buFont typeface="Arial" panose="020B0604020202020204" pitchFamily="34" charset="0"/>
              <a:buChar char="•"/>
            </a:pPr>
            <a:r>
              <a:rPr lang="en-US" sz="1200">
                <a:solidFill>
                  <a:schemeClr val="bg1"/>
                </a:solidFill>
              </a:rPr>
              <a:t>Long, daily working sessions</a:t>
            </a:r>
            <a:endParaRPr lang="en-US" sz="1200" b="1">
              <a:solidFill>
                <a:schemeClr val="bg1"/>
              </a:solidFill>
            </a:endParaRPr>
          </a:p>
        </p:txBody>
      </p:sp>
    </p:spTree>
    <p:extLst>
      <p:ext uri="{BB962C8B-B14F-4D97-AF65-F5344CB8AC3E}">
        <p14:creationId xmlns:p14="http://schemas.microsoft.com/office/powerpoint/2010/main" val="751536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0382B33B-8B8C-4BC2-B46C-78D57C4639DC}"/>
              </a:ext>
            </a:extLst>
          </p:cNvPr>
          <p:cNvSpPr txBox="1"/>
          <p:nvPr/>
        </p:nvSpPr>
        <p:spPr>
          <a:xfrm>
            <a:off x="759853" y="309093"/>
            <a:ext cx="6989455" cy="584775"/>
          </a:xfrm>
          <a:prstGeom prst="rect">
            <a:avLst/>
          </a:prstGeom>
          <a:noFill/>
        </p:spPr>
        <p:txBody>
          <a:bodyPr wrap="square" rtlCol="0">
            <a:spAutoFit/>
          </a:bodyPr>
          <a:lstStyle/>
          <a:p>
            <a:r>
              <a:rPr lang="en-US" sz="3200" u="sng">
                <a:solidFill>
                  <a:schemeClr val="bg1"/>
                </a:solidFill>
              </a:rPr>
              <a:t>Accessibility Challenges</a:t>
            </a:r>
          </a:p>
        </p:txBody>
      </p:sp>
      <p:sp>
        <p:nvSpPr>
          <p:cNvPr id="3" name="Content Placeholder 2">
            <a:extLst>
              <a:ext uri="{FF2B5EF4-FFF2-40B4-BE49-F238E27FC236}">
                <a16:creationId xmlns:a16="http://schemas.microsoft.com/office/drawing/2014/main" id="{DD92876A-6366-A62A-2965-AAE2EB11AFE9}"/>
              </a:ext>
            </a:extLst>
          </p:cNvPr>
          <p:cNvSpPr>
            <a:spLocks noGrp="1"/>
          </p:cNvSpPr>
          <p:nvPr>
            <p:ph idx="1"/>
          </p:nvPr>
        </p:nvSpPr>
        <p:spPr>
          <a:xfrm>
            <a:off x="759853" y="1273080"/>
            <a:ext cx="10058400" cy="4610484"/>
          </a:xfrm>
        </p:spPr>
        <p:txBody>
          <a:bodyPr/>
          <a:lstStyle/>
          <a:p>
            <a:pPr>
              <a:buFont typeface="Arial" panose="020B0604020202020204" pitchFamily="34" charset="0"/>
              <a:buChar char="•"/>
            </a:pPr>
            <a:r>
              <a:rPr lang="en-US" dirty="0">
                <a:solidFill>
                  <a:schemeClr val="bg1"/>
                </a:solidFill>
              </a:rPr>
              <a:t>Accessibility standards can be summarized in 4 categories (from low to high difficulty):</a:t>
            </a:r>
          </a:p>
          <a:p>
            <a:pPr lvl="1">
              <a:buFont typeface="Arial" panose="020B0604020202020204" pitchFamily="34" charset="0"/>
              <a:buChar char="•"/>
            </a:pPr>
            <a:r>
              <a:rPr lang="en-US" dirty="0">
                <a:solidFill>
                  <a:schemeClr val="bg1"/>
                </a:solidFill>
              </a:rPr>
              <a:t>Color Contrast</a:t>
            </a:r>
          </a:p>
          <a:p>
            <a:pPr lvl="2">
              <a:buFont typeface="Arial" panose="020B0604020202020204" pitchFamily="34" charset="0"/>
              <a:buChar char="•"/>
            </a:pPr>
            <a:r>
              <a:rPr lang="en-US" dirty="0">
                <a:solidFill>
                  <a:schemeClr val="bg1"/>
                </a:solidFill>
              </a:rPr>
              <a:t>Color contrast ratio between text and fill should be higher than 3:1, and between borders and backgrounds 4:1.</a:t>
            </a:r>
          </a:p>
          <a:p>
            <a:pPr lvl="1">
              <a:buFont typeface="Arial" panose="020B0604020202020204" pitchFamily="34" charset="0"/>
              <a:buChar char="•"/>
            </a:pPr>
            <a:r>
              <a:rPr lang="en-US" dirty="0">
                <a:solidFill>
                  <a:schemeClr val="bg1"/>
                </a:solidFill>
              </a:rPr>
              <a:t>Keyboard navigation</a:t>
            </a:r>
          </a:p>
          <a:p>
            <a:pPr lvl="2">
              <a:buFont typeface="Arial" panose="020B0604020202020204" pitchFamily="34" charset="0"/>
              <a:buChar char="•"/>
            </a:pPr>
            <a:r>
              <a:rPr lang="en-US" dirty="0">
                <a:solidFill>
                  <a:schemeClr val="bg1"/>
                </a:solidFill>
              </a:rPr>
              <a:t>The entire app should be navigable using keyboard, following a logical TAB order</a:t>
            </a:r>
          </a:p>
          <a:p>
            <a:pPr lvl="1">
              <a:buFont typeface="Arial" panose="020B0604020202020204" pitchFamily="34" charset="0"/>
              <a:buChar char="•"/>
            </a:pPr>
            <a:r>
              <a:rPr lang="en-US" dirty="0">
                <a:solidFill>
                  <a:schemeClr val="bg1"/>
                </a:solidFill>
              </a:rPr>
              <a:t>Screen reader</a:t>
            </a:r>
          </a:p>
          <a:p>
            <a:pPr lvl="2">
              <a:buFont typeface="Arial" panose="020B0604020202020204" pitchFamily="34" charset="0"/>
              <a:buChar char="•"/>
            </a:pPr>
            <a:r>
              <a:rPr lang="en-US" dirty="0">
                <a:solidFill>
                  <a:schemeClr val="bg1"/>
                </a:solidFill>
              </a:rPr>
              <a:t>NVDA screen reader should read in a logical order, announce live regions and roles of the different controls</a:t>
            </a:r>
          </a:p>
          <a:p>
            <a:pPr lvl="1">
              <a:buFont typeface="Arial" panose="020B0604020202020204" pitchFamily="34" charset="0"/>
              <a:buChar char="•"/>
            </a:pPr>
            <a:r>
              <a:rPr lang="en-US" dirty="0">
                <a:solidFill>
                  <a:schemeClr val="bg1"/>
                </a:solidFill>
              </a:rPr>
              <a:t>Responsiveness</a:t>
            </a:r>
          </a:p>
          <a:p>
            <a:pPr lvl="2">
              <a:buFont typeface="Arial" panose="020B0604020202020204" pitchFamily="34" charset="0"/>
              <a:buChar char="•"/>
            </a:pPr>
            <a:r>
              <a:rPr lang="en-US" dirty="0">
                <a:solidFill>
                  <a:schemeClr val="bg1"/>
                </a:solidFill>
              </a:rPr>
              <a:t>Controls need to accommodate to fit the screen regardless of the zoom level</a:t>
            </a:r>
          </a:p>
          <a:p>
            <a:pPr lvl="2">
              <a:buFont typeface="Arial" panose="020B0604020202020204" pitchFamily="34" charset="0"/>
              <a:buChar char="•"/>
            </a:pPr>
            <a:endParaRPr lang="en-US" dirty="0">
              <a:solidFill>
                <a:schemeClr val="bg1"/>
              </a:solidFill>
            </a:endParaRPr>
          </a:p>
          <a:p>
            <a:pPr lvl="2">
              <a:buFont typeface="Arial" panose="020B0604020202020204" pitchFamily="34" charset="0"/>
              <a:buChar char="•"/>
            </a:pPr>
            <a:endParaRPr lang="en-US" dirty="0">
              <a:solidFill>
                <a:schemeClr val="bg1"/>
              </a:solidFill>
            </a:endParaRPr>
          </a:p>
        </p:txBody>
      </p:sp>
    </p:spTree>
    <p:extLst>
      <p:ext uri="{BB962C8B-B14F-4D97-AF65-F5344CB8AC3E}">
        <p14:creationId xmlns:p14="http://schemas.microsoft.com/office/powerpoint/2010/main" val="4268731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0382B33B-8B8C-4BC2-B46C-78D57C4639DC}"/>
              </a:ext>
            </a:extLst>
          </p:cNvPr>
          <p:cNvSpPr txBox="1"/>
          <p:nvPr/>
        </p:nvSpPr>
        <p:spPr>
          <a:xfrm>
            <a:off x="759853" y="309093"/>
            <a:ext cx="6989455" cy="584775"/>
          </a:xfrm>
          <a:prstGeom prst="rect">
            <a:avLst/>
          </a:prstGeom>
          <a:noFill/>
        </p:spPr>
        <p:txBody>
          <a:bodyPr wrap="square" rtlCol="0">
            <a:spAutoFit/>
          </a:bodyPr>
          <a:lstStyle/>
          <a:p>
            <a:r>
              <a:rPr lang="en-US" sz="3200" u="sng">
                <a:solidFill>
                  <a:schemeClr val="bg1"/>
                </a:solidFill>
              </a:rPr>
              <a:t>Team alignment/Methodology</a:t>
            </a:r>
          </a:p>
        </p:txBody>
      </p:sp>
      <p:pic>
        <p:nvPicPr>
          <p:cNvPr id="6" name="Picture 5">
            <a:extLst>
              <a:ext uri="{FF2B5EF4-FFF2-40B4-BE49-F238E27FC236}">
                <a16:creationId xmlns:a16="http://schemas.microsoft.com/office/drawing/2014/main" id="{50EF092C-5E1D-15E2-7773-B97202B64A88}"/>
              </a:ext>
            </a:extLst>
          </p:cNvPr>
          <p:cNvPicPr>
            <a:picLocks noChangeAspect="1"/>
          </p:cNvPicPr>
          <p:nvPr/>
        </p:nvPicPr>
        <p:blipFill>
          <a:blip r:embed="rId2"/>
          <a:stretch>
            <a:fillRect/>
          </a:stretch>
        </p:blipFill>
        <p:spPr>
          <a:xfrm>
            <a:off x="759853" y="2998178"/>
            <a:ext cx="10372437" cy="3063589"/>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7" name="Content Placeholder 2">
            <a:extLst>
              <a:ext uri="{FF2B5EF4-FFF2-40B4-BE49-F238E27FC236}">
                <a16:creationId xmlns:a16="http://schemas.microsoft.com/office/drawing/2014/main" id="{FC6FA7A0-AD39-12C6-B9E4-185B3D95595B}"/>
              </a:ext>
            </a:extLst>
          </p:cNvPr>
          <p:cNvSpPr>
            <a:spLocks noGrp="1"/>
          </p:cNvSpPr>
          <p:nvPr>
            <p:ph idx="1"/>
          </p:nvPr>
        </p:nvSpPr>
        <p:spPr>
          <a:xfrm>
            <a:off x="759853" y="951745"/>
            <a:ext cx="10058400" cy="2179382"/>
          </a:xfrm>
        </p:spPr>
        <p:txBody>
          <a:bodyPr/>
          <a:lstStyle/>
          <a:p>
            <a:pPr>
              <a:buFont typeface="Arial" panose="020B0604020202020204" pitchFamily="34" charset="0"/>
              <a:buChar char="•"/>
            </a:pPr>
            <a:r>
              <a:rPr lang="en-US" dirty="0">
                <a:solidFill>
                  <a:schemeClr val="bg1"/>
                </a:solidFill>
              </a:rPr>
              <a:t>Excel file for internal team:</a:t>
            </a:r>
          </a:p>
          <a:p>
            <a:pPr lvl="1">
              <a:buFont typeface="Arial" panose="020B0604020202020204" pitchFamily="34" charset="0"/>
              <a:buChar char="•"/>
            </a:pPr>
            <a:r>
              <a:rPr lang="en-US" dirty="0">
                <a:solidFill>
                  <a:schemeClr val="bg1"/>
                </a:solidFill>
              </a:rPr>
              <a:t>Daily tracking</a:t>
            </a:r>
          </a:p>
          <a:p>
            <a:pPr lvl="1">
              <a:buFont typeface="Arial" panose="020B0604020202020204" pitchFamily="34" charset="0"/>
              <a:buChar char="•"/>
            </a:pPr>
            <a:r>
              <a:rPr lang="en-US" dirty="0">
                <a:solidFill>
                  <a:schemeClr val="bg1"/>
                </a:solidFill>
              </a:rPr>
              <a:t>Kept updated with status in ADO</a:t>
            </a:r>
          </a:p>
          <a:p>
            <a:pPr lvl="2">
              <a:buFont typeface="Arial" panose="020B0604020202020204" pitchFamily="34" charset="0"/>
              <a:buChar char="•"/>
            </a:pPr>
            <a:r>
              <a:rPr lang="en-US" dirty="0">
                <a:solidFill>
                  <a:schemeClr val="bg1"/>
                </a:solidFill>
              </a:rPr>
              <a:t>Any Work items to be discussed during accessibility meetings (Tuesdays) were flagged</a:t>
            </a:r>
          </a:p>
          <a:p>
            <a:pPr lvl="2">
              <a:buFont typeface="Arial" panose="020B0604020202020204" pitchFamily="34" charset="0"/>
              <a:buChar char="•"/>
            </a:pPr>
            <a:r>
              <a:rPr lang="en-US" dirty="0">
                <a:solidFill>
                  <a:schemeClr val="bg1"/>
                </a:solidFill>
              </a:rPr>
              <a:t>Weekly deployment to UAT for accessibility revision and feedback (Fridays)</a:t>
            </a:r>
          </a:p>
          <a:p>
            <a:pPr lvl="1">
              <a:buFont typeface="Arial" panose="020B0604020202020204" pitchFamily="34" charset="0"/>
              <a:buChar char="•"/>
            </a:pPr>
            <a:r>
              <a:rPr lang="en-US" dirty="0">
                <a:solidFill>
                  <a:schemeClr val="bg1"/>
                </a:solidFill>
              </a:rPr>
              <a:t>In Spanish for team alignment including Mauricio</a:t>
            </a:r>
          </a:p>
          <a:p>
            <a:pPr lvl="1">
              <a:buFont typeface="Arial" panose="020B0604020202020204" pitchFamily="34" charset="0"/>
              <a:buChar char="•"/>
            </a:pPr>
            <a:endParaRPr lang="en-US" dirty="0">
              <a:solidFill>
                <a:schemeClr val="bg1"/>
              </a:solidFill>
            </a:endParaRPr>
          </a:p>
          <a:p>
            <a:pPr lvl="2">
              <a:buFont typeface="Arial" panose="020B0604020202020204" pitchFamily="34" charset="0"/>
              <a:buChar char="•"/>
            </a:pPr>
            <a:endParaRPr lang="en-US" dirty="0">
              <a:solidFill>
                <a:schemeClr val="bg1"/>
              </a:solidFill>
            </a:endParaRPr>
          </a:p>
        </p:txBody>
      </p:sp>
    </p:spTree>
    <p:extLst>
      <p:ext uri="{BB962C8B-B14F-4D97-AF65-F5344CB8AC3E}">
        <p14:creationId xmlns:p14="http://schemas.microsoft.com/office/powerpoint/2010/main" val="2325182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1D43C8E-CB8F-0231-72B3-F94731365B2B}"/>
              </a:ext>
            </a:extLst>
          </p:cNvPr>
          <p:cNvSpPr txBox="1"/>
          <p:nvPr/>
        </p:nvSpPr>
        <p:spPr>
          <a:xfrm>
            <a:off x="4675773" y="2511816"/>
            <a:ext cx="9815783" cy="584775"/>
          </a:xfrm>
          <a:prstGeom prst="rect">
            <a:avLst/>
          </a:prstGeom>
          <a:noFill/>
        </p:spPr>
        <p:txBody>
          <a:bodyPr wrap="square" rtlCol="0">
            <a:spAutoFit/>
          </a:bodyPr>
          <a:lstStyle/>
          <a:p>
            <a:r>
              <a:rPr lang="en-US" sz="3200" u="sng" dirty="0">
                <a:solidFill>
                  <a:schemeClr val="bg1"/>
                </a:solidFill>
              </a:rPr>
              <a:t>App Demo</a:t>
            </a:r>
          </a:p>
        </p:txBody>
      </p:sp>
    </p:spTree>
    <p:extLst>
      <p:ext uri="{BB962C8B-B14F-4D97-AF65-F5344CB8AC3E}">
        <p14:creationId xmlns:p14="http://schemas.microsoft.com/office/powerpoint/2010/main" val="967154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26F540F-8D96-301E-B86C-4179B38AC7BD}"/>
              </a:ext>
            </a:extLst>
          </p:cNvPr>
          <p:cNvSpPr>
            <a:spLocks noGrp="1"/>
          </p:cNvSpPr>
          <p:nvPr>
            <p:ph idx="1"/>
          </p:nvPr>
        </p:nvSpPr>
        <p:spPr>
          <a:xfrm>
            <a:off x="759852" y="1071717"/>
            <a:ext cx="11274831" cy="5142270"/>
          </a:xfrm>
        </p:spPr>
        <p:txBody>
          <a:bodyPr>
            <a:normAutofit fontScale="92500" lnSpcReduction="20000"/>
          </a:bodyPr>
          <a:lstStyle/>
          <a:p>
            <a:pPr>
              <a:buFont typeface="Arial" panose="020B0604020202020204" pitchFamily="34" charset="0"/>
              <a:buChar char="•"/>
            </a:pPr>
            <a:r>
              <a:rPr lang="en-US" dirty="0">
                <a:solidFill>
                  <a:schemeClr val="bg1"/>
                </a:solidFill>
              </a:rPr>
              <a:t> </a:t>
            </a:r>
            <a:r>
              <a:rPr lang="en-US" u="sng" dirty="0">
                <a:solidFill>
                  <a:schemeClr val="bg1"/>
                </a:solidFill>
              </a:rPr>
              <a:t>Main Requirements</a:t>
            </a:r>
          </a:p>
          <a:p>
            <a:pPr lvl="1">
              <a:buFont typeface="Arial" panose="020B0604020202020204" pitchFamily="34" charset="0"/>
              <a:buChar char="•"/>
            </a:pPr>
            <a:r>
              <a:rPr lang="en-US" sz="1600" dirty="0">
                <a:solidFill>
                  <a:schemeClr val="bg1"/>
                </a:solidFill>
              </a:rPr>
              <a:t>Luminosity contrast ratios should comply with specific standards depending on colors. This applies for:</a:t>
            </a:r>
          </a:p>
          <a:p>
            <a:pPr lvl="2">
              <a:buFont typeface="Arial" panose="020B0604020202020204" pitchFamily="34" charset="0"/>
              <a:buChar char="•"/>
            </a:pPr>
            <a:r>
              <a:rPr lang="en-US" sz="1200" dirty="0">
                <a:solidFill>
                  <a:schemeClr val="bg1"/>
                </a:solidFill>
              </a:rPr>
              <a:t>Text.</a:t>
            </a:r>
          </a:p>
          <a:p>
            <a:pPr lvl="2">
              <a:buFont typeface="Arial" panose="020B0604020202020204" pitchFamily="34" charset="0"/>
              <a:buChar char="•"/>
            </a:pPr>
            <a:r>
              <a:rPr lang="en-US" sz="1200" dirty="0">
                <a:solidFill>
                  <a:schemeClr val="bg1"/>
                </a:solidFill>
              </a:rPr>
              <a:t>Buttons.</a:t>
            </a:r>
          </a:p>
          <a:p>
            <a:pPr lvl="2">
              <a:buFont typeface="Arial" panose="020B0604020202020204" pitchFamily="34" charset="0"/>
              <a:buChar char="•"/>
            </a:pPr>
            <a:r>
              <a:rPr lang="en-US" sz="1200" dirty="0">
                <a:solidFill>
                  <a:schemeClr val="bg1"/>
                </a:solidFill>
              </a:rPr>
              <a:t>Focus borders.</a:t>
            </a:r>
          </a:p>
          <a:p>
            <a:pPr lvl="2">
              <a:buFont typeface="Arial" panose="020B0604020202020204" pitchFamily="34" charset="0"/>
              <a:buChar char="•"/>
            </a:pPr>
            <a:r>
              <a:rPr lang="en-US" sz="1200" dirty="0">
                <a:solidFill>
                  <a:schemeClr val="bg1"/>
                </a:solidFill>
              </a:rPr>
              <a:t>Element borders.</a:t>
            </a:r>
          </a:p>
          <a:p>
            <a:pPr lvl="2">
              <a:buFont typeface="Arial" panose="020B0604020202020204" pitchFamily="34" charset="0"/>
              <a:buChar char="•"/>
            </a:pPr>
            <a:r>
              <a:rPr lang="en-US" sz="1200" dirty="0">
                <a:solidFill>
                  <a:schemeClr val="bg1"/>
                </a:solidFill>
              </a:rPr>
              <a:t>Images.</a:t>
            </a:r>
          </a:p>
          <a:p>
            <a:pPr lvl="2">
              <a:buFont typeface="Arial" panose="020B0604020202020204" pitchFamily="34" charset="0"/>
              <a:buChar char="•"/>
            </a:pPr>
            <a:r>
              <a:rPr lang="en-US" sz="1200" dirty="0">
                <a:solidFill>
                  <a:schemeClr val="bg1"/>
                </a:solidFill>
              </a:rPr>
              <a:t>Icons / Shapes.</a:t>
            </a:r>
          </a:p>
          <a:p>
            <a:pPr lvl="2">
              <a:buFont typeface="Arial" panose="020B0604020202020204" pitchFamily="34" charset="0"/>
              <a:buChar char="•"/>
            </a:pPr>
            <a:r>
              <a:rPr lang="en-US" sz="1200" dirty="0">
                <a:solidFill>
                  <a:schemeClr val="bg1"/>
                </a:solidFill>
              </a:rPr>
              <a:t>Dropdowns / Search boxes.</a:t>
            </a:r>
          </a:p>
          <a:p>
            <a:pPr lvl="2">
              <a:buFont typeface="Arial" panose="020B0604020202020204" pitchFamily="34" charset="0"/>
              <a:buChar char="•"/>
            </a:pPr>
            <a:r>
              <a:rPr lang="en-US" sz="1200" dirty="0">
                <a:solidFill>
                  <a:schemeClr val="bg1"/>
                </a:solidFill>
              </a:rPr>
              <a:t>HTMLs.</a:t>
            </a:r>
          </a:p>
          <a:p>
            <a:pPr lvl="1">
              <a:buFont typeface="Arial" panose="020B0604020202020204" pitchFamily="34" charset="0"/>
              <a:buChar char="•"/>
            </a:pPr>
            <a:r>
              <a:rPr lang="en-US" sz="1600" dirty="0">
                <a:solidFill>
                  <a:schemeClr val="bg1"/>
                </a:solidFill>
              </a:rPr>
              <a:t>When adjusting the app for high contrast modes, ensure luminosity contrast ratio based on standards.</a:t>
            </a:r>
          </a:p>
          <a:p>
            <a:pPr lvl="1">
              <a:buFont typeface="Arial" panose="020B0604020202020204" pitchFamily="34" charset="0"/>
              <a:buChar char="•"/>
            </a:pPr>
            <a:r>
              <a:rPr lang="en-US" sz="1600" dirty="0">
                <a:solidFill>
                  <a:schemeClr val="bg1"/>
                </a:solidFill>
              </a:rPr>
              <a:t>The required luminosity contrast ratio is usually provided by accessibility team, but it can be found in: </a:t>
            </a:r>
            <a:r>
              <a:rPr lang="en-US" sz="1600" dirty="0">
                <a:hlinkClick r:id="rId2"/>
              </a:rPr>
              <a:t>Understanding Success Criterion 1.4.3: Contrast (Minimum) (w3.org)</a:t>
            </a:r>
            <a:r>
              <a:rPr lang="en-US" sz="1600" dirty="0">
                <a:solidFill>
                  <a:schemeClr val="bg1"/>
                </a:solidFill>
              </a:rPr>
              <a:t> </a:t>
            </a:r>
          </a:p>
          <a:p>
            <a:pPr>
              <a:buFont typeface="Arial" panose="020B0604020202020204" pitchFamily="34" charset="0"/>
              <a:buChar char="•"/>
            </a:pPr>
            <a:r>
              <a:rPr lang="en-US" dirty="0">
                <a:solidFill>
                  <a:schemeClr val="bg1"/>
                </a:solidFill>
              </a:rPr>
              <a:t> </a:t>
            </a:r>
            <a:r>
              <a:rPr lang="en-US" u="sng" dirty="0">
                <a:solidFill>
                  <a:schemeClr val="bg1"/>
                </a:solidFill>
              </a:rPr>
              <a:t>Bug examples:</a:t>
            </a:r>
          </a:p>
          <a:p>
            <a:pPr lvl="1">
              <a:buFont typeface="Arial" panose="020B0604020202020204" pitchFamily="34" charset="0"/>
              <a:buChar char="•"/>
            </a:pPr>
            <a:endParaRPr lang="en-US" sz="1900" b="0" i="0" dirty="0">
              <a:effectLst/>
              <a:latin typeface="Segoe UI VSS (Regular)"/>
            </a:endParaRPr>
          </a:p>
          <a:p>
            <a:pPr lvl="1">
              <a:buFont typeface="Arial" panose="020B0604020202020204" pitchFamily="34" charset="0"/>
              <a:buChar char="•"/>
            </a:pPr>
            <a:r>
              <a:rPr lang="en-US" sz="1900" b="0" i="0" dirty="0">
                <a:solidFill>
                  <a:schemeClr val="accent6"/>
                </a:solidFill>
                <a:effectLst/>
                <a:latin typeface="Segoe UI VSS (Regular)"/>
              </a:rPr>
              <a:t>Bug 1531353</a:t>
            </a:r>
            <a:r>
              <a:rPr lang="en-US" sz="1900" dirty="0">
                <a:solidFill>
                  <a:schemeClr val="accent6"/>
                </a:solidFill>
                <a:latin typeface="Segoe UI VSS (Regular)"/>
                <a:sym typeface="Wingdings" panose="05000000000000000000" pitchFamily="2" charset="2"/>
              </a:rPr>
              <a:t> (Link broken on purpose for privacy reasons)</a:t>
            </a:r>
            <a:r>
              <a:rPr lang="en-US" sz="1900" dirty="0">
                <a:latin typeface="Segoe UI VSS (Regular)"/>
                <a:sym typeface="Wingdings" panose="05000000000000000000" pitchFamily="2" charset="2"/>
              </a:rPr>
              <a:t>)</a:t>
            </a:r>
            <a:endParaRPr lang="en-US" sz="1900" b="0" i="0" dirty="0">
              <a:effectLst/>
              <a:latin typeface="Segoe UI VSS (Regular)"/>
            </a:endParaRPr>
          </a:p>
          <a:p>
            <a:pPr lvl="2">
              <a:buFont typeface="Arial" panose="020B0604020202020204" pitchFamily="34" charset="0"/>
              <a:buChar char="•"/>
            </a:pPr>
            <a:r>
              <a:rPr lang="en-US" sz="1300" b="0" i="0" dirty="0">
                <a:solidFill>
                  <a:schemeClr val="bg1"/>
                </a:solidFill>
                <a:effectLst/>
                <a:latin typeface="Segoe UI VSS (Regular)"/>
              </a:rPr>
              <a:t> Luminosity ratio of high contrast theme related dropdown controls with focus indicator fails to meet minimum required ratio.</a:t>
            </a:r>
            <a:endParaRPr lang="en-US" sz="1300" b="0" i="0" dirty="0">
              <a:effectLst/>
              <a:latin typeface="Segoe UI VSS (Regular)"/>
            </a:endParaRPr>
          </a:p>
          <a:p>
            <a:pPr lvl="1">
              <a:buFont typeface="Arial" panose="020B0604020202020204" pitchFamily="34" charset="0"/>
              <a:buChar char="•"/>
            </a:pPr>
            <a:r>
              <a:rPr lang="en-US" sz="1900" b="0" i="0" dirty="0">
                <a:solidFill>
                  <a:schemeClr val="accent6"/>
                </a:solidFill>
                <a:effectLst/>
                <a:latin typeface="Segoe UI VSS (Regular)"/>
              </a:rPr>
              <a:t>Bug 1517603 </a:t>
            </a:r>
            <a:r>
              <a:rPr lang="en-US" sz="1900" dirty="0">
                <a:solidFill>
                  <a:schemeClr val="accent6"/>
                </a:solidFill>
                <a:latin typeface="Segoe UI VSS (Regular)"/>
                <a:sym typeface="Wingdings" panose="05000000000000000000" pitchFamily="2" charset="2"/>
              </a:rPr>
              <a:t>(Link broken on purpose for privacy reasons)</a:t>
            </a:r>
            <a:endParaRPr lang="en-US" sz="1900" b="0" i="0" dirty="0">
              <a:solidFill>
                <a:schemeClr val="accent6"/>
              </a:solidFill>
              <a:effectLst/>
              <a:latin typeface="Segoe UI VSS (Regular)"/>
            </a:endParaRPr>
          </a:p>
          <a:p>
            <a:pPr lvl="2">
              <a:buFont typeface="Arial" panose="020B0604020202020204" pitchFamily="34" charset="0"/>
              <a:buChar char="•"/>
            </a:pPr>
            <a:r>
              <a:rPr lang="en-US" sz="1300" b="0" i="0" dirty="0">
                <a:solidFill>
                  <a:schemeClr val="bg1"/>
                </a:solidFill>
                <a:effectLst/>
                <a:latin typeface="Segoe UI VSS (Regular)"/>
              </a:rPr>
              <a:t>Luminosity contrast ratio of focus indicator for 'apply' and 'clear all' buttons is 2.1:1 which is less than 3:1.</a:t>
            </a:r>
          </a:p>
          <a:p>
            <a:pPr lvl="1">
              <a:buFont typeface="Arial" panose="020B0604020202020204" pitchFamily="34" charset="0"/>
              <a:buChar char="•"/>
            </a:pPr>
            <a:r>
              <a:rPr lang="en-US" sz="1900" b="0" i="0" dirty="0">
                <a:solidFill>
                  <a:schemeClr val="accent6"/>
                </a:solidFill>
                <a:effectLst/>
                <a:latin typeface="Segoe UI VSS (Regular)"/>
              </a:rPr>
              <a:t>Bug 1518059: </a:t>
            </a:r>
            <a:r>
              <a:rPr lang="en-US" sz="1900" dirty="0">
                <a:solidFill>
                  <a:schemeClr val="accent6"/>
                </a:solidFill>
                <a:latin typeface="Segoe UI VSS (Regular)"/>
                <a:sym typeface="Wingdings" panose="05000000000000000000" pitchFamily="2" charset="2"/>
              </a:rPr>
              <a:t>(Link broken on purpose for privacy reasons)</a:t>
            </a:r>
            <a:endParaRPr lang="en-US" sz="1900" b="0" i="0" dirty="0">
              <a:solidFill>
                <a:schemeClr val="accent6"/>
              </a:solidFill>
              <a:effectLst/>
              <a:latin typeface="Segoe UI VSS (Regular)"/>
            </a:endParaRPr>
          </a:p>
          <a:p>
            <a:pPr lvl="2"/>
            <a:r>
              <a:rPr lang="en-US" sz="1300" b="0" i="0" dirty="0">
                <a:solidFill>
                  <a:schemeClr val="bg1"/>
                </a:solidFill>
                <a:effectLst/>
                <a:latin typeface="Segoe UI VSS (Regular)"/>
              </a:rPr>
              <a:t> In High contrast Aquatic Desert modes, Differentiation for selected/unselected tile is not able to differentiate.ng </a:t>
            </a:r>
            <a:r>
              <a:rPr lang="en-US" sz="1100" b="0" i="0" dirty="0">
                <a:solidFill>
                  <a:schemeClr val="bg1"/>
                </a:solidFill>
                <a:effectLst/>
                <a:latin typeface="Segoe UI VSS (Regular)"/>
              </a:rPr>
              <a:t>the </a:t>
            </a:r>
            <a:r>
              <a:rPr lang="en-US" sz="1200" b="0" i="0" dirty="0">
                <a:solidFill>
                  <a:schemeClr val="bg1"/>
                </a:solidFill>
                <a:effectLst/>
                <a:latin typeface="Segoe UI VSS (Regular)"/>
              </a:rPr>
              <a:t>platform - OLP Power Apps - Content page]: In High contrast Aquatic Desert modes, Differentiation </a:t>
            </a:r>
            <a:r>
              <a:rPr lang="en-US" b="0" i="0" dirty="0">
                <a:solidFill>
                  <a:schemeClr val="bg1"/>
                </a:solidFill>
                <a:effectLst/>
                <a:latin typeface="Segoe UI VSS (Regular)"/>
              </a:rPr>
              <a:t>for selected/unselected tile is not able to differentiate</a:t>
            </a:r>
            <a:endParaRPr lang="en-US" dirty="0">
              <a:solidFill>
                <a:schemeClr val="bg1"/>
              </a:solidFill>
            </a:endParaRPr>
          </a:p>
        </p:txBody>
      </p:sp>
      <p:sp>
        <p:nvSpPr>
          <p:cNvPr id="8" name="TextBox 7">
            <a:extLst>
              <a:ext uri="{FF2B5EF4-FFF2-40B4-BE49-F238E27FC236}">
                <a16:creationId xmlns:a16="http://schemas.microsoft.com/office/drawing/2014/main" id="{E1D43C8E-CB8F-0231-72B3-F94731365B2B}"/>
              </a:ext>
            </a:extLst>
          </p:cNvPr>
          <p:cNvSpPr txBox="1"/>
          <p:nvPr/>
        </p:nvSpPr>
        <p:spPr>
          <a:xfrm>
            <a:off x="759853" y="253675"/>
            <a:ext cx="9815783" cy="1077218"/>
          </a:xfrm>
          <a:prstGeom prst="rect">
            <a:avLst/>
          </a:prstGeom>
          <a:noFill/>
        </p:spPr>
        <p:txBody>
          <a:bodyPr wrap="square" rtlCol="0">
            <a:spAutoFit/>
          </a:bodyPr>
          <a:lstStyle/>
          <a:p>
            <a:r>
              <a:rPr lang="en-US" sz="3200" u="sng">
                <a:solidFill>
                  <a:schemeClr val="bg1"/>
                </a:solidFill>
              </a:rPr>
              <a:t>Accessibility Challenges: Color Contrast</a:t>
            </a:r>
          </a:p>
          <a:p>
            <a:r>
              <a:rPr lang="en-US" sz="3200" u="sng">
                <a:solidFill>
                  <a:schemeClr val="bg1"/>
                </a:solidFill>
              </a:rPr>
              <a:t> </a:t>
            </a:r>
          </a:p>
        </p:txBody>
      </p:sp>
    </p:spTree>
    <p:extLst>
      <p:ext uri="{BB962C8B-B14F-4D97-AF65-F5344CB8AC3E}">
        <p14:creationId xmlns:p14="http://schemas.microsoft.com/office/powerpoint/2010/main" val="1700880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AD0ACA03-FC39-4E1D-8A50-8453A83BE0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1" name="Rectangle 40">
            <a:extLst>
              <a:ext uri="{FF2B5EF4-FFF2-40B4-BE49-F238E27FC236}">
                <a16:creationId xmlns:a16="http://schemas.microsoft.com/office/drawing/2014/main" id="{05FD7B22-47FD-4909-9BE1-B8F33D0CC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3" name="Straight Connector 42">
            <a:extLst>
              <a:ext uri="{FF2B5EF4-FFF2-40B4-BE49-F238E27FC236}">
                <a16:creationId xmlns:a16="http://schemas.microsoft.com/office/drawing/2014/main" id="{38BB4A3C-C45F-4412-B720-A78D3B93A3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5" name="Rectangle 44">
            <a:extLst>
              <a:ext uri="{FF2B5EF4-FFF2-40B4-BE49-F238E27FC236}">
                <a16:creationId xmlns:a16="http://schemas.microsoft.com/office/drawing/2014/main" id="{99E89893-DFFA-4421-B915-4E222119C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0382B33B-8B8C-4BC2-B46C-78D57C4639DC}"/>
              </a:ext>
            </a:extLst>
          </p:cNvPr>
          <p:cNvSpPr txBox="1"/>
          <p:nvPr/>
        </p:nvSpPr>
        <p:spPr>
          <a:xfrm>
            <a:off x="524349" y="-306916"/>
            <a:ext cx="10909073" cy="1057655"/>
          </a:xfrm>
          <a:prstGeom prst="rect">
            <a:avLst/>
          </a:prstGeom>
        </p:spPr>
        <p:txBody>
          <a:bodyPr vert="horz" lIns="91440" tIns="45720" rIns="91440" bIns="45720" rtlCol="0" anchor="b">
            <a:normAutofit/>
          </a:bodyPr>
          <a:lstStyle/>
          <a:p>
            <a:pPr defTabSz="914400">
              <a:lnSpc>
                <a:spcPct val="85000"/>
              </a:lnSpc>
              <a:spcBef>
                <a:spcPct val="0"/>
              </a:spcBef>
              <a:spcAft>
                <a:spcPts val="600"/>
              </a:spcAft>
            </a:pPr>
            <a:r>
              <a:rPr lang="en-US" sz="3600" u="sng" spc="-50">
                <a:solidFill>
                  <a:schemeClr val="bg1"/>
                </a:solidFill>
                <a:latin typeface="+mj-lt"/>
                <a:ea typeface="+mj-ea"/>
                <a:cs typeface="+mj-cs"/>
              </a:rPr>
              <a:t>High Contrast Themes</a:t>
            </a:r>
          </a:p>
        </p:txBody>
      </p:sp>
      <p:pic>
        <p:nvPicPr>
          <p:cNvPr id="4" name="Picture 3">
            <a:extLst>
              <a:ext uri="{FF2B5EF4-FFF2-40B4-BE49-F238E27FC236}">
                <a16:creationId xmlns:a16="http://schemas.microsoft.com/office/drawing/2014/main" id="{E5128232-1C0E-3AB5-8435-25B860F7F6F5}"/>
              </a:ext>
            </a:extLst>
          </p:cNvPr>
          <p:cNvPicPr>
            <a:picLocks noChangeAspect="1"/>
          </p:cNvPicPr>
          <p:nvPr/>
        </p:nvPicPr>
        <p:blipFill>
          <a:blip r:embed="rId2"/>
          <a:srcRect l="14750"/>
          <a:stretch>
            <a:fillRect/>
          </a:stretch>
        </p:blipFill>
        <p:spPr>
          <a:xfrm>
            <a:off x="721086" y="1685633"/>
            <a:ext cx="4966426" cy="2438553"/>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47" name="Rectangle 46">
            <a:extLst>
              <a:ext uri="{FF2B5EF4-FFF2-40B4-BE49-F238E27FC236}">
                <a16:creationId xmlns:a16="http://schemas.microsoft.com/office/drawing/2014/main" id="{791D6C9E-DDC7-4C32-8670-CB71D1231A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3996" y="886968"/>
            <a:ext cx="64008" cy="3108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357F248-D13E-D6D8-902E-F5449BE78448}"/>
              </a:ext>
            </a:extLst>
          </p:cNvPr>
          <p:cNvPicPr>
            <a:picLocks noChangeAspect="1"/>
          </p:cNvPicPr>
          <p:nvPr/>
        </p:nvPicPr>
        <p:blipFill>
          <a:blip r:embed="rId3"/>
          <a:srcRect l="15012"/>
          <a:stretch>
            <a:fillRect/>
          </a:stretch>
        </p:blipFill>
        <p:spPr>
          <a:xfrm>
            <a:off x="6576527" y="1648824"/>
            <a:ext cx="5030434" cy="2438553"/>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cxnSp>
        <p:nvCxnSpPr>
          <p:cNvPr id="49" name="Straight Connector 48">
            <a:extLst>
              <a:ext uri="{FF2B5EF4-FFF2-40B4-BE49-F238E27FC236}">
                <a16:creationId xmlns:a16="http://schemas.microsoft.com/office/drawing/2014/main" id="{7A53075C-1C2E-4C71-B354-4D1283B874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086" y="5618770"/>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E833E5BE-374A-4C79-A6B3-483F27174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3" name="Rectangle 52">
            <a:extLst>
              <a:ext uri="{FF2B5EF4-FFF2-40B4-BE49-F238E27FC236}">
                <a16:creationId xmlns:a16="http://schemas.microsoft.com/office/drawing/2014/main" id="{B6DB1BEE-6A8E-4560-952A-669A38B094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TextBox 6">
            <a:extLst>
              <a:ext uri="{FF2B5EF4-FFF2-40B4-BE49-F238E27FC236}">
                <a16:creationId xmlns:a16="http://schemas.microsoft.com/office/drawing/2014/main" id="{FF2641E9-3AF7-C02E-66B3-803E9F67ADAF}"/>
              </a:ext>
            </a:extLst>
          </p:cNvPr>
          <p:cNvSpPr txBox="1"/>
          <p:nvPr/>
        </p:nvSpPr>
        <p:spPr>
          <a:xfrm>
            <a:off x="524349" y="1053246"/>
            <a:ext cx="4664364" cy="338554"/>
          </a:xfrm>
          <a:prstGeom prst="rect">
            <a:avLst/>
          </a:prstGeom>
          <a:noFill/>
        </p:spPr>
        <p:txBody>
          <a:bodyPr wrap="square" rtlCol="0">
            <a:spAutoFit/>
          </a:bodyPr>
          <a:lstStyle/>
          <a:p>
            <a:r>
              <a:rPr lang="en-US" sz="1600" u="sng">
                <a:solidFill>
                  <a:schemeClr val="bg1"/>
                </a:solidFill>
              </a:rPr>
              <a:t>Aquatic Theme</a:t>
            </a:r>
          </a:p>
        </p:txBody>
      </p:sp>
      <p:sp>
        <p:nvSpPr>
          <p:cNvPr id="8" name="TextBox 7">
            <a:extLst>
              <a:ext uri="{FF2B5EF4-FFF2-40B4-BE49-F238E27FC236}">
                <a16:creationId xmlns:a16="http://schemas.microsoft.com/office/drawing/2014/main" id="{3A4B4577-A889-5E41-FAA1-B706077B62DF}"/>
              </a:ext>
            </a:extLst>
          </p:cNvPr>
          <p:cNvSpPr txBox="1"/>
          <p:nvPr/>
        </p:nvSpPr>
        <p:spPr>
          <a:xfrm>
            <a:off x="6318165" y="1054248"/>
            <a:ext cx="4664364" cy="338554"/>
          </a:xfrm>
          <a:prstGeom prst="rect">
            <a:avLst/>
          </a:prstGeom>
          <a:noFill/>
        </p:spPr>
        <p:txBody>
          <a:bodyPr wrap="square" rtlCol="0">
            <a:spAutoFit/>
          </a:bodyPr>
          <a:lstStyle/>
          <a:p>
            <a:r>
              <a:rPr lang="en-US" sz="1600" u="sng">
                <a:solidFill>
                  <a:schemeClr val="bg1"/>
                </a:solidFill>
              </a:rPr>
              <a:t>Desert Theme</a:t>
            </a:r>
          </a:p>
        </p:txBody>
      </p:sp>
      <p:sp>
        <p:nvSpPr>
          <p:cNvPr id="2" name="TextBox 1">
            <a:extLst>
              <a:ext uri="{FF2B5EF4-FFF2-40B4-BE49-F238E27FC236}">
                <a16:creationId xmlns:a16="http://schemas.microsoft.com/office/drawing/2014/main" id="{7056A16D-6996-0910-5361-09DD126A2665}"/>
              </a:ext>
            </a:extLst>
          </p:cNvPr>
          <p:cNvSpPr txBox="1"/>
          <p:nvPr/>
        </p:nvSpPr>
        <p:spPr>
          <a:xfrm>
            <a:off x="721086" y="4525804"/>
            <a:ext cx="10515600" cy="830997"/>
          </a:xfrm>
          <a:prstGeom prst="rect">
            <a:avLst/>
          </a:prstGeom>
          <a:noFill/>
        </p:spPr>
        <p:txBody>
          <a:bodyPr wrap="square" rtlCol="0">
            <a:spAutoFit/>
          </a:bodyPr>
          <a:lstStyle/>
          <a:p>
            <a:pPr algn="just"/>
            <a:r>
              <a:rPr lang="en-US" sz="1600">
                <a:solidFill>
                  <a:schemeClr val="bg1"/>
                </a:solidFill>
              </a:rPr>
              <a:t>To set up the app for the high contrast modes, have in mind that Power Apps does not has the ability to know specifically in which theme the Windows operating system is set. This means, one must create a theme inside the app to comply with luminosity contrast requirements.  </a:t>
            </a:r>
          </a:p>
        </p:txBody>
      </p:sp>
    </p:spTree>
    <p:extLst>
      <p:ext uri="{BB962C8B-B14F-4D97-AF65-F5344CB8AC3E}">
        <p14:creationId xmlns:p14="http://schemas.microsoft.com/office/powerpoint/2010/main" val="54620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92876A-6366-A62A-2965-AAE2EB11AFE9}"/>
              </a:ext>
            </a:extLst>
          </p:cNvPr>
          <p:cNvSpPr>
            <a:spLocks noGrp="1"/>
          </p:cNvSpPr>
          <p:nvPr>
            <p:ph idx="1"/>
          </p:nvPr>
        </p:nvSpPr>
        <p:spPr>
          <a:xfrm>
            <a:off x="759853" y="956593"/>
            <a:ext cx="10058400" cy="4610484"/>
          </a:xfrm>
        </p:spPr>
        <p:txBody>
          <a:bodyPr>
            <a:normAutofit/>
          </a:bodyPr>
          <a:lstStyle/>
          <a:p>
            <a:pPr>
              <a:buFont typeface="Arial" panose="020B0604020202020204" pitchFamily="34" charset="0"/>
              <a:buChar char="•"/>
            </a:pPr>
            <a:r>
              <a:rPr lang="en-US" u="sng">
                <a:solidFill>
                  <a:schemeClr val="bg1"/>
                </a:solidFill>
              </a:rPr>
              <a:t>Tools:</a:t>
            </a:r>
          </a:p>
          <a:p>
            <a:pPr lvl="1">
              <a:buFont typeface="Arial" panose="020B0604020202020204" pitchFamily="34" charset="0"/>
              <a:buChar char="•"/>
            </a:pPr>
            <a:r>
              <a:rPr lang="en-US" sz="1600" u="sng" err="1">
                <a:solidFill>
                  <a:schemeClr val="bg1"/>
                </a:solidFill>
              </a:rPr>
              <a:t>Colour</a:t>
            </a:r>
            <a:r>
              <a:rPr lang="en-US" sz="1600" u="sng">
                <a:solidFill>
                  <a:schemeClr val="bg1"/>
                </a:solidFill>
              </a:rPr>
              <a:t> Contrast Analyzer (CCA)</a:t>
            </a:r>
          </a:p>
        </p:txBody>
      </p:sp>
      <p:pic>
        <p:nvPicPr>
          <p:cNvPr id="4" name="Picture 3">
            <a:extLst>
              <a:ext uri="{FF2B5EF4-FFF2-40B4-BE49-F238E27FC236}">
                <a16:creationId xmlns:a16="http://schemas.microsoft.com/office/drawing/2014/main" id="{EDF98B2A-AE10-EA3F-B361-76AC742B23C0}"/>
              </a:ext>
            </a:extLst>
          </p:cNvPr>
          <p:cNvPicPr>
            <a:picLocks noChangeAspect="1"/>
          </p:cNvPicPr>
          <p:nvPr/>
        </p:nvPicPr>
        <p:blipFill>
          <a:blip r:embed="rId2"/>
          <a:stretch>
            <a:fillRect/>
          </a:stretch>
        </p:blipFill>
        <p:spPr>
          <a:xfrm>
            <a:off x="5502726" y="1833936"/>
            <a:ext cx="6556483" cy="3488771"/>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5" name="TextBox 4">
            <a:extLst>
              <a:ext uri="{FF2B5EF4-FFF2-40B4-BE49-F238E27FC236}">
                <a16:creationId xmlns:a16="http://schemas.microsoft.com/office/drawing/2014/main" id="{92D5F4CD-5AD8-4987-22DC-E454126A7408}"/>
              </a:ext>
            </a:extLst>
          </p:cNvPr>
          <p:cNvSpPr txBox="1"/>
          <p:nvPr/>
        </p:nvSpPr>
        <p:spPr>
          <a:xfrm>
            <a:off x="5502726" y="5326136"/>
            <a:ext cx="3502729" cy="184666"/>
          </a:xfrm>
          <a:prstGeom prst="rect">
            <a:avLst/>
          </a:prstGeom>
          <a:noFill/>
        </p:spPr>
        <p:txBody>
          <a:bodyPr wrap="square" rtlCol="0">
            <a:spAutoFit/>
          </a:bodyPr>
          <a:lstStyle/>
          <a:p>
            <a:r>
              <a:rPr lang="en-US" sz="600">
                <a:solidFill>
                  <a:schemeClr val="bg1"/>
                </a:solidFill>
              </a:rPr>
              <a:t>Image: https://www.tpgi.com/color-contrast-checker/</a:t>
            </a:r>
          </a:p>
        </p:txBody>
      </p:sp>
      <p:sp>
        <p:nvSpPr>
          <p:cNvPr id="6" name="TextBox 5">
            <a:extLst>
              <a:ext uri="{FF2B5EF4-FFF2-40B4-BE49-F238E27FC236}">
                <a16:creationId xmlns:a16="http://schemas.microsoft.com/office/drawing/2014/main" id="{3D45AEBF-77B5-5664-03F7-A03C223B99ED}"/>
              </a:ext>
            </a:extLst>
          </p:cNvPr>
          <p:cNvSpPr txBox="1"/>
          <p:nvPr/>
        </p:nvSpPr>
        <p:spPr>
          <a:xfrm>
            <a:off x="759853" y="1833936"/>
            <a:ext cx="4357092" cy="4278094"/>
          </a:xfrm>
          <a:prstGeom prst="rect">
            <a:avLst/>
          </a:prstGeom>
          <a:noFill/>
        </p:spPr>
        <p:txBody>
          <a:bodyPr wrap="square" rtlCol="0">
            <a:spAutoFit/>
          </a:bodyPr>
          <a:lstStyle/>
          <a:p>
            <a:r>
              <a:rPr lang="en-US" sz="1600">
                <a:solidFill>
                  <a:schemeClr val="bg1"/>
                </a:solidFill>
              </a:rPr>
              <a:t>The “CCA” is a relevant tool when talking accessibility. </a:t>
            </a:r>
          </a:p>
          <a:p>
            <a:endParaRPr lang="en-US" sz="1600">
              <a:solidFill>
                <a:schemeClr val="bg1"/>
              </a:solidFill>
            </a:endParaRPr>
          </a:p>
          <a:p>
            <a:r>
              <a:rPr lang="en-US" sz="1600">
                <a:solidFill>
                  <a:schemeClr val="bg1"/>
                </a:solidFill>
              </a:rPr>
              <a:t>This is the same tool accessibility team uses.</a:t>
            </a:r>
          </a:p>
          <a:p>
            <a:endParaRPr lang="en-US" sz="1600">
              <a:solidFill>
                <a:schemeClr val="bg1"/>
              </a:solidFill>
            </a:endParaRPr>
          </a:p>
          <a:p>
            <a:r>
              <a:rPr lang="en-US" sz="1600">
                <a:solidFill>
                  <a:schemeClr val="bg1"/>
                </a:solidFill>
              </a:rPr>
              <a:t>It is used to check contrast color throughout the app. It will be an essential tool as many colors one uses are not color-blind compatible or do not comply with accessibility requirements.</a:t>
            </a:r>
          </a:p>
          <a:p>
            <a:endParaRPr lang="en-US" sz="1600">
              <a:solidFill>
                <a:schemeClr val="bg1"/>
              </a:solidFill>
            </a:endParaRPr>
          </a:p>
          <a:p>
            <a:r>
              <a:rPr lang="en-US" sz="1600">
                <a:solidFill>
                  <a:schemeClr val="bg1"/>
                </a:solidFill>
              </a:rPr>
              <a:t>It is also extremely useful when setting up the app for high contrast themes.</a:t>
            </a:r>
          </a:p>
          <a:p>
            <a:endParaRPr lang="en-US" sz="1600">
              <a:solidFill>
                <a:schemeClr val="bg1"/>
              </a:solidFill>
            </a:endParaRPr>
          </a:p>
          <a:p>
            <a:r>
              <a:rPr lang="en-US" sz="1600">
                <a:solidFill>
                  <a:schemeClr val="bg1"/>
                </a:solidFill>
              </a:rPr>
              <a:t>The tool is available for Windows and iOS operating systems and can be downloaded here: </a:t>
            </a:r>
            <a:r>
              <a:rPr lang="en-US" sz="1600">
                <a:hlinkClick r:id="rId3"/>
              </a:rPr>
              <a:t>Color Contrast Checker - </a:t>
            </a:r>
            <a:r>
              <a:rPr lang="en-US" sz="1600" err="1">
                <a:hlinkClick r:id="rId3"/>
              </a:rPr>
              <a:t>TPGi</a:t>
            </a:r>
            <a:endParaRPr lang="en-US" sz="1600">
              <a:solidFill>
                <a:schemeClr val="bg1"/>
              </a:solidFill>
            </a:endParaRPr>
          </a:p>
          <a:p>
            <a:endParaRPr lang="en-US" sz="1600">
              <a:solidFill>
                <a:schemeClr val="bg1"/>
              </a:solidFill>
            </a:endParaRPr>
          </a:p>
        </p:txBody>
      </p:sp>
      <p:sp>
        <p:nvSpPr>
          <p:cNvPr id="2" name="TextBox 1">
            <a:extLst>
              <a:ext uri="{FF2B5EF4-FFF2-40B4-BE49-F238E27FC236}">
                <a16:creationId xmlns:a16="http://schemas.microsoft.com/office/drawing/2014/main" id="{3F205A54-BD19-FCE1-BC0C-57053C6E51DC}"/>
              </a:ext>
            </a:extLst>
          </p:cNvPr>
          <p:cNvSpPr txBox="1"/>
          <p:nvPr/>
        </p:nvSpPr>
        <p:spPr>
          <a:xfrm>
            <a:off x="759853" y="253675"/>
            <a:ext cx="9815783" cy="1077218"/>
          </a:xfrm>
          <a:prstGeom prst="rect">
            <a:avLst/>
          </a:prstGeom>
          <a:noFill/>
        </p:spPr>
        <p:txBody>
          <a:bodyPr wrap="square" rtlCol="0">
            <a:spAutoFit/>
          </a:bodyPr>
          <a:lstStyle/>
          <a:p>
            <a:r>
              <a:rPr lang="en-US" sz="3200" u="sng">
                <a:solidFill>
                  <a:schemeClr val="bg1"/>
                </a:solidFill>
              </a:rPr>
              <a:t>Accessibility Challenges: Color Contrast</a:t>
            </a:r>
          </a:p>
          <a:p>
            <a:r>
              <a:rPr lang="en-US" sz="3200" u="sng">
                <a:solidFill>
                  <a:schemeClr val="bg1"/>
                </a:solidFill>
              </a:rPr>
              <a:t> </a:t>
            </a:r>
          </a:p>
        </p:txBody>
      </p:sp>
    </p:spTree>
    <p:extLst>
      <p:ext uri="{BB962C8B-B14F-4D97-AF65-F5344CB8AC3E}">
        <p14:creationId xmlns:p14="http://schemas.microsoft.com/office/powerpoint/2010/main" val="2524855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26F540F-8D96-301E-B86C-4179B38AC7BD}"/>
              </a:ext>
            </a:extLst>
          </p:cNvPr>
          <p:cNvSpPr>
            <a:spLocks noGrp="1"/>
          </p:cNvSpPr>
          <p:nvPr>
            <p:ph idx="1"/>
          </p:nvPr>
        </p:nvSpPr>
        <p:spPr>
          <a:xfrm>
            <a:off x="759853" y="993057"/>
            <a:ext cx="11235502" cy="5230761"/>
          </a:xfrm>
        </p:spPr>
        <p:txBody>
          <a:bodyPr>
            <a:normAutofit/>
          </a:bodyPr>
          <a:lstStyle/>
          <a:p>
            <a:pPr>
              <a:buFont typeface="Arial" panose="020B0604020202020204" pitchFamily="34" charset="0"/>
              <a:buChar char="•"/>
            </a:pPr>
            <a:r>
              <a:rPr lang="en-US" u="sng" dirty="0">
                <a:solidFill>
                  <a:schemeClr val="bg1"/>
                </a:solidFill>
              </a:rPr>
              <a:t> Main Requirements</a:t>
            </a:r>
          </a:p>
          <a:p>
            <a:pPr lvl="1">
              <a:buFont typeface="Arial" panose="020B0604020202020204" pitchFamily="34" charset="0"/>
              <a:buChar char="•"/>
            </a:pPr>
            <a:r>
              <a:rPr lang="en-US" sz="1600" dirty="0">
                <a:solidFill>
                  <a:schemeClr val="bg1"/>
                </a:solidFill>
              </a:rPr>
              <a:t>Create focus borders around all the interactive elements for visual guidance.</a:t>
            </a:r>
          </a:p>
          <a:p>
            <a:pPr lvl="2">
              <a:buFont typeface="Arial" panose="020B0604020202020204" pitchFamily="34" charset="0"/>
              <a:buChar char="•"/>
            </a:pPr>
            <a:r>
              <a:rPr lang="en-US" sz="1050" dirty="0">
                <a:solidFill>
                  <a:schemeClr val="bg1"/>
                </a:solidFill>
              </a:rPr>
              <a:t>Ensure the focus border complies with luminosity ratios.</a:t>
            </a:r>
          </a:p>
          <a:p>
            <a:pPr lvl="2">
              <a:buFont typeface="Arial" panose="020B0604020202020204" pitchFamily="34" charset="0"/>
              <a:buChar char="•"/>
            </a:pPr>
            <a:r>
              <a:rPr lang="en-US" sz="1050" dirty="0">
                <a:solidFill>
                  <a:schemeClr val="bg1"/>
                </a:solidFill>
              </a:rPr>
              <a:t>Ensure the focus border does not get truncated or hidden when applying zoom or adjusting screen size.</a:t>
            </a:r>
          </a:p>
          <a:p>
            <a:pPr lvl="2">
              <a:buFont typeface="Arial" panose="020B0604020202020204" pitchFamily="34" charset="0"/>
              <a:buChar char="•"/>
            </a:pPr>
            <a:r>
              <a:rPr lang="en-US" sz="1050" dirty="0">
                <a:solidFill>
                  <a:schemeClr val="bg1"/>
                </a:solidFill>
              </a:rPr>
              <a:t>Ensure the focus border gives enough space for the text even when text spacing is applied.</a:t>
            </a:r>
            <a:endParaRPr lang="en-US" sz="1600" dirty="0">
              <a:solidFill>
                <a:schemeClr val="bg1"/>
              </a:solidFill>
            </a:endParaRPr>
          </a:p>
          <a:p>
            <a:pPr lvl="1">
              <a:buFont typeface="Arial" panose="020B0604020202020204" pitchFamily="34" charset="0"/>
              <a:buChar char="•"/>
            </a:pPr>
            <a:r>
              <a:rPr lang="en-US" sz="1600" dirty="0">
                <a:solidFill>
                  <a:schemeClr val="bg1"/>
                </a:solidFill>
              </a:rPr>
              <a:t>Build a logical and organized sequence of navigation for the interactive elements of the app.</a:t>
            </a:r>
          </a:p>
          <a:p>
            <a:pPr lvl="1">
              <a:buFont typeface="Arial" panose="020B0604020202020204" pitchFamily="34" charset="0"/>
              <a:buChar char="•"/>
            </a:pPr>
            <a:r>
              <a:rPr lang="en-US" sz="1600" dirty="0">
                <a:solidFill>
                  <a:schemeClr val="bg1"/>
                </a:solidFill>
              </a:rPr>
              <a:t>Make sure focus is not loss before navigating to the last interactive element.</a:t>
            </a:r>
            <a:endParaRPr lang="en-US" sz="1050" dirty="0">
              <a:solidFill>
                <a:schemeClr val="bg1"/>
              </a:solidFill>
            </a:endParaRPr>
          </a:p>
          <a:p>
            <a:pPr>
              <a:buFont typeface="Arial" panose="020B0604020202020204" pitchFamily="34" charset="0"/>
              <a:buChar char="•"/>
            </a:pPr>
            <a:r>
              <a:rPr lang="en-US" sz="1800" u="sng" dirty="0">
                <a:solidFill>
                  <a:schemeClr val="bg1"/>
                </a:solidFill>
              </a:rPr>
              <a:t> Bug examples:</a:t>
            </a:r>
          </a:p>
          <a:p>
            <a:pPr marL="0" indent="0">
              <a:lnSpc>
                <a:spcPct val="100000"/>
              </a:lnSpc>
              <a:spcBef>
                <a:spcPts val="0"/>
              </a:spcBef>
              <a:spcAft>
                <a:spcPts val="0"/>
              </a:spcAft>
              <a:buFont typeface="Arial" panose="020B0604020202020204" pitchFamily="34" charset="0"/>
              <a:buChar char="•"/>
            </a:pPr>
            <a:endParaRPr lang="en-US" sz="1800" u="sng" dirty="0">
              <a:solidFill>
                <a:schemeClr val="bg1"/>
              </a:solidFill>
            </a:endParaRPr>
          </a:p>
          <a:p>
            <a:pPr lvl="1">
              <a:buFont typeface="Arial" panose="020B0604020202020204" pitchFamily="34" charset="0"/>
              <a:buChar char="•"/>
            </a:pPr>
            <a:r>
              <a:rPr lang="en-US" sz="1400" b="0" i="0" dirty="0">
                <a:solidFill>
                  <a:schemeClr val="bg1"/>
                </a:solidFill>
                <a:effectLst/>
                <a:latin typeface="Segoe UI VSS (Regular)"/>
              </a:rPr>
              <a:t>Bug 1517727</a:t>
            </a:r>
            <a:r>
              <a:rPr lang="en-US" sz="1400" dirty="0">
                <a:solidFill>
                  <a:schemeClr val="bg1"/>
                </a:solidFill>
                <a:latin typeface="Segoe UI VSS (Regular)"/>
                <a:sym typeface="Wingdings" panose="05000000000000000000" pitchFamily="2" charset="2"/>
              </a:rPr>
              <a:t>(Link broken on purpose for privacy reasons)</a:t>
            </a:r>
            <a:endParaRPr lang="en-US" sz="1400" b="0" i="0" dirty="0">
              <a:solidFill>
                <a:schemeClr val="bg1"/>
              </a:solidFill>
              <a:effectLst/>
              <a:latin typeface="Segoe UI VSS (Regular)"/>
            </a:endParaRPr>
          </a:p>
          <a:p>
            <a:pPr lvl="2">
              <a:buFont typeface="Arial" panose="020B0604020202020204" pitchFamily="34" charset="0"/>
              <a:buChar char="•"/>
            </a:pPr>
            <a:r>
              <a:rPr lang="en-US" sz="1000" b="0" i="0" dirty="0">
                <a:solidFill>
                  <a:schemeClr val="bg1"/>
                </a:solidFill>
                <a:effectLst/>
                <a:latin typeface="Segoe UI VSS (Regular)"/>
              </a:rPr>
              <a:t>Keyboard focus is unnecessarily moving to whole tile section upon activating 'Collapse All' or 'Expand All' control.</a:t>
            </a:r>
          </a:p>
          <a:p>
            <a:pPr lvl="1">
              <a:buFont typeface="Arial" panose="020B0604020202020204" pitchFamily="34" charset="0"/>
              <a:buChar char="•"/>
            </a:pPr>
            <a:r>
              <a:rPr lang="en-US" sz="1400" b="0" i="0" dirty="0">
                <a:solidFill>
                  <a:schemeClr val="bg1"/>
                </a:solidFill>
                <a:effectLst/>
                <a:latin typeface="Segoe UI VSS (Regular)"/>
              </a:rPr>
              <a:t>Bug 1518011</a:t>
            </a:r>
            <a:r>
              <a:rPr lang="en-US" sz="1400" dirty="0">
                <a:solidFill>
                  <a:schemeClr val="bg1"/>
                </a:solidFill>
                <a:latin typeface="Segoe UI VSS (Regular)"/>
                <a:sym typeface="Wingdings" panose="05000000000000000000" pitchFamily="2" charset="2"/>
              </a:rPr>
              <a:t>(Link broken on purpose for privacy reasons)</a:t>
            </a:r>
            <a:endParaRPr lang="en-US" sz="1400" b="0" i="0" dirty="0">
              <a:solidFill>
                <a:schemeClr val="bg1"/>
              </a:solidFill>
              <a:effectLst/>
              <a:latin typeface="Segoe UI VSS (Regular)"/>
            </a:endParaRPr>
          </a:p>
          <a:p>
            <a:pPr lvl="2">
              <a:buFont typeface="Arial" panose="020B0604020202020204" pitchFamily="34" charset="0"/>
              <a:buChar char="•"/>
            </a:pPr>
            <a:r>
              <a:rPr lang="en-US" sz="1000" b="0" i="0" dirty="0">
                <a:solidFill>
                  <a:schemeClr val="bg1"/>
                </a:solidFill>
                <a:effectLst/>
                <a:latin typeface="Segoe UI VSS (Regular)"/>
              </a:rPr>
              <a:t>Keyboard focus indicator is not visible on the entire page for tiles.</a:t>
            </a:r>
          </a:p>
          <a:p>
            <a:pPr lvl="1">
              <a:buFont typeface="Arial" panose="020B0604020202020204" pitchFamily="34" charset="0"/>
              <a:buChar char="•"/>
            </a:pPr>
            <a:r>
              <a:rPr lang="en-US" sz="1400" b="0" i="0" dirty="0">
                <a:solidFill>
                  <a:schemeClr val="bg1"/>
                </a:solidFill>
                <a:effectLst/>
                <a:latin typeface="Segoe UI VSS (Regular)"/>
              </a:rPr>
              <a:t>Bug 1521879</a:t>
            </a:r>
            <a:r>
              <a:rPr lang="en-US" sz="1400" dirty="0">
                <a:solidFill>
                  <a:schemeClr val="bg1"/>
                </a:solidFill>
                <a:latin typeface="Segoe UI VSS (Regular)"/>
                <a:sym typeface="Wingdings" panose="05000000000000000000" pitchFamily="2" charset="2"/>
              </a:rPr>
              <a:t>(Link broken on purpose for privacy reasons)</a:t>
            </a:r>
            <a:endParaRPr lang="en-US" sz="1400" b="0" i="0" dirty="0">
              <a:solidFill>
                <a:schemeClr val="bg1"/>
              </a:solidFill>
              <a:effectLst/>
              <a:latin typeface="Segoe UI VSS (Regular)"/>
            </a:endParaRPr>
          </a:p>
          <a:p>
            <a:pPr lvl="2">
              <a:buFont typeface="Arial" panose="020B0604020202020204" pitchFamily="34" charset="0"/>
              <a:buChar char="•"/>
            </a:pPr>
            <a:r>
              <a:rPr lang="en-US" sz="1000" b="0" i="0" dirty="0">
                <a:solidFill>
                  <a:schemeClr val="bg1"/>
                </a:solidFill>
                <a:effectLst/>
                <a:latin typeface="Segoe UI VSS (Regular)"/>
              </a:rPr>
              <a:t>Keyboard focus is not on sequential order in the page, while navigating using keyboard tab key.</a:t>
            </a:r>
          </a:p>
          <a:p>
            <a:pPr lvl="1">
              <a:buFont typeface="Arial" panose="020B0604020202020204" pitchFamily="34" charset="0"/>
              <a:buChar char="•"/>
            </a:pPr>
            <a:r>
              <a:rPr lang="en-US" sz="1400" b="0" i="0" dirty="0">
                <a:solidFill>
                  <a:schemeClr val="bg1"/>
                </a:solidFill>
                <a:effectLst/>
                <a:latin typeface="Segoe UI VSS (Regular)"/>
              </a:rPr>
              <a:t>Bug 1522094</a:t>
            </a:r>
            <a:r>
              <a:rPr lang="en-US" sz="1400" dirty="0">
                <a:solidFill>
                  <a:schemeClr val="bg1"/>
                </a:solidFill>
                <a:latin typeface="Segoe UI VSS (Regular)"/>
                <a:sym typeface="Wingdings" panose="05000000000000000000" pitchFamily="2" charset="2"/>
              </a:rPr>
              <a:t>(Link broken on purpose for privacy reasons)</a:t>
            </a:r>
            <a:endParaRPr lang="en-US" sz="1400" b="0" i="0" dirty="0">
              <a:solidFill>
                <a:schemeClr val="bg1"/>
              </a:solidFill>
              <a:effectLst/>
              <a:latin typeface="Segoe UI VSS (Regular)"/>
            </a:endParaRPr>
          </a:p>
          <a:p>
            <a:pPr lvl="2">
              <a:buFont typeface="Arial" panose="020B0604020202020204" pitchFamily="34" charset="0"/>
              <a:buChar char="•"/>
            </a:pPr>
            <a:r>
              <a:rPr lang="en-US" sz="1000" b="0" i="0" dirty="0">
                <a:solidFill>
                  <a:schemeClr val="bg1"/>
                </a:solidFill>
                <a:effectLst/>
                <a:latin typeface="Segoe UI VSS (Regular)"/>
              </a:rPr>
              <a:t>Keyboard focus indicator is not properly visible after invoking 'Go' button while navigating using tab key</a:t>
            </a:r>
            <a:r>
              <a:rPr lang="en-US" sz="1000" dirty="0">
                <a:solidFill>
                  <a:schemeClr val="bg1"/>
                </a:solidFill>
                <a:latin typeface="Segoe UI VSS (Regular)"/>
              </a:rPr>
              <a:t>.</a:t>
            </a:r>
            <a:endParaRPr lang="en-US" sz="1000" b="0" i="0" dirty="0">
              <a:solidFill>
                <a:schemeClr val="bg1"/>
              </a:solidFill>
              <a:effectLst/>
              <a:latin typeface="Segoe UI VSS (Regular)"/>
            </a:endParaRPr>
          </a:p>
          <a:p>
            <a:pPr lvl="2">
              <a:buFont typeface="Arial" panose="020B0604020202020204" pitchFamily="34" charset="0"/>
              <a:buChar char="•"/>
            </a:pPr>
            <a:endParaRPr lang="en-US" dirty="0">
              <a:solidFill>
                <a:schemeClr val="bg1"/>
              </a:solidFill>
            </a:endParaRPr>
          </a:p>
          <a:p>
            <a:pPr lvl="1">
              <a:buFont typeface="Arial" panose="020B0604020202020204" pitchFamily="34" charset="0"/>
              <a:buChar char="•"/>
            </a:pPr>
            <a:endParaRPr lang="en-US" dirty="0">
              <a:solidFill>
                <a:schemeClr val="bg1"/>
              </a:solidFill>
            </a:endParaRPr>
          </a:p>
          <a:p>
            <a:pPr lvl="2">
              <a:buFont typeface="Arial" panose="020B0604020202020204" pitchFamily="34" charset="0"/>
              <a:buChar char="•"/>
            </a:pPr>
            <a:endParaRPr lang="en-US" dirty="0">
              <a:solidFill>
                <a:schemeClr val="bg1"/>
              </a:solidFill>
            </a:endParaRPr>
          </a:p>
        </p:txBody>
      </p:sp>
      <p:sp>
        <p:nvSpPr>
          <p:cNvPr id="8" name="TextBox 7">
            <a:extLst>
              <a:ext uri="{FF2B5EF4-FFF2-40B4-BE49-F238E27FC236}">
                <a16:creationId xmlns:a16="http://schemas.microsoft.com/office/drawing/2014/main" id="{E1D43C8E-CB8F-0231-72B3-F94731365B2B}"/>
              </a:ext>
            </a:extLst>
          </p:cNvPr>
          <p:cNvSpPr txBox="1"/>
          <p:nvPr/>
        </p:nvSpPr>
        <p:spPr>
          <a:xfrm>
            <a:off x="759853" y="253675"/>
            <a:ext cx="9815783" cy="1077218"/>
          </a:xfrm>
          <a:prstGeom prst="rect">
            <a:avLst/>
          </a:prstGeom>
          <a:noFill/>
        </p:spPr>
        <p:txBody>
          <a:bodyPr wrap="square" rtlCol="0">
            <a:spAutoFit/>
          </a:bodyPr>
          <a:lstStyle/>
          <a:p>
            <a:r>
              <a:rPr lang="en-US" sz="3200" u="sng">
                <a:solidFill>
                  <a:schemeClr val="bg1"/>
                </a:solidFill>
              </a:rPr>
              <a:t>Accessibility Challenges: Keyboard navigation</a:t>
            </a:r>
          </a:p>
          <a:p>
            <a:r>
              <a:rPr lang="en-US" sz="3200" u="sng">
                <a:solidFill>
                  <a:schemeClr val="bg1"/>
                </a:solidFill>
              </a:rPr>
              <a:t> </a:t>
            </a:r>
          </a:p>
        </p:txBody>
      </p:sp>
    </p:spTree>
    <p:extLst>
      <p:ext uri="{BB962C8B-B14F-4D97-AF65-F5344CB8AC3E}">
        <p14:creationId xmlns:p14="http://schemas.microsoft.com/office/powerpoint/2010/main" val="1562135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26F540F-8D96-301E-B86C-4179B38AC7BD}"/>
              </a:ext>
            </a:extLst>
          </p:cNvPr>
          <p:cNvSpPr>
            <a:spLocks noGrp="1"/>
          </p:cNvSpPr>
          <p:nvPr>
            <p:ph idx="1"/>
          </p:nvPr>
        </p:nvSpPr>
        <p:spPr>
          <a:xfrm>
            <a:off x="759853" y="855407"/>
            <a:ext cx="11323992" cy="5417574"/>
          </a:xfrm>
        </p:spPr>
        <p:txBody>
          <a:bodyPr>
            <a:normAutofit lnSpcReduction="10000"/>
          </a:bodyPr>
          <a:lstStyle/>
          <a:p>
            <a:pPr>
              <a:buFont typeface="Arial" panose="020B0604020202020204" pitchFamily="34" charset="0"/>
              <a:buChar char="•"/>
            </a:pPr>
            <a:r>
              <a:rPr lang="en-US" u="sng" dirty="0">
                <a:solidFill>
                  <a:schemeClr val="bg1"/>
                </a:solidFill>
              </a:rPr>
              <a:t> Main Requirements</a:t>
            </a:r>
          </a:p>
          <a:p>
            <a:pPr marL="0" indent="0">
              <a:buNone/>
            </a:pPr>
            <a:endParaRPr lang="en-US" u="sng" dirty="0">
              <a:solidFill>
                <a:schemeClr val="bg1"/>
              </a:solidFill>
            </a:endParaRPr>
          </a:p>
          <a:p>
            <a:pPr lvl="1">
              <a:buFont typeface="Arial" panose="020B0604020202020204" pitchFamily="34" charset="0"/>
              <a:buChar char="•"/>
            </a:pPr>
            <a:r>
              <a:rPr lang="en-US" dirty="0">
                <a:solidFill>
                  <a:schemeClr val="bg1"/>
                </a:solidFill>
              </a:rPr>
              <a:t>Screen reader should narrate the exact information of the element, no more than that.</a:t>
            </a:r>
          </a:p>
          <a:p>
            <a:pPr lvl="1">
              <a:buFont typeface="Arial" panose="020B0604020202020204" pitchFamily="34" charset="0"/>
              <a:buChar char="•"/>
            </a:pPr>
            <a:r>
              <a:rPr lang="en-US" dirty="0">
                <a:solidFill>
                  <a:schemeClr val="bg1"/>
                </a:solidFill>
              </a:rPr>
              <a:t>The sequence of reading must be logical according to accessibility requirements.</a:t>
            </a:r>
          </a:p>
          <a:p>
            <a:pPr lvl="1">
              <a:buFont typeface="Arial" panose="020B0604020202020204" pitchFamily="34" charset="0"/>
              <a:buChar char="•"/>
            </a:pPr>
            <a:r>
              <a:rPr lang="en-US" dirty="0">
                <a:solidFill>
                  <a:schemeClr val="bg1"/>
                </a:solidFill>
              </a:rPr>
              <a:t>Every focused element in the app while using keyboard navigation must have a logical and understandable name.</a:t>
            </a:r>
          </a:p>
          <a:p>
            <a:pPr lvl="1">
              <a:buFont typeface="Arial" panose="020B0604020202020204" pitchFamily="34" charset="0"/>
              <a:buChar char="•"/>
            </a:pPr>
            <a:r>
              <a:rPr lang="en-US" dirty="0">
                <a:solidFill>
                  <a:schemeClr val="bg1"/>
                </a:solidFill>
              </a:rPr>
              <a:t>There are shortcut keys for certain elements such as buttons or tables, make sure screen reader reacts when using these shortcut keys.</a:t>
            </a:r>
          </a:p>
          <a:p>
            <a:pPr>
              <a:buFont typeface="Arial" panose="020B0604020202020204" pitchFamily="34" charset="0"/>
              <a:buChar char="•"/>
            </a:pPr>
            <a:r>
              <a:rPr lang="en-US" dirty="0">
                <a:solidFill>
                  <a:schemeClr val="bg1"/>
                </a:solidFill>
              </a:rPr>
              <a:t> </a:t>
            </a:r>
            <a:r>
              <a:rPr lang="en-US" u="sng" dirty="0">
                <a:solidFill>
                  <a:schemeClr val="bg1"/>
                </a:solidFill>
              </a:rPr>
              <a:t>Bug examples:</a:t>
            </a:r>
          </a:p>
          <a:p>
            <a:pPr marL="0" indent="0">
              <a:buNone/>
            </a:pPr>
            <a:endParaRPr lang="en-US" u="sng" dirty="0">
              <a:solidFill>
                <a:schemeClr val="bg1"/>
              </a:solidFill>
            </a:endParaRPr>
          </a:p>
          <a:p>
            <a:pPr lvl="1">
              <a:buFont typeface="Arial" panose="020B0604020202020204" pitchFamily="34" charset="0"/>
              <a:buChar char="•"/>
            </a:pPr>
            <a:r>
              <a:rPr lang="en-US" dirty="0">
                <a:solidFill>
                  <a:schemeClr val="bg1"/>
                </a:solidFill>
              </a:rPr>
              <a:t>Bug 1517884</a:t>
            </a:r>
          </a:p>
          <a:p>
            <a:pPr lvl="2">
              <a:buFont typeface="Arial" panose="020B0604020202020204" pitchFamily="34" charset="0"/>
              <a:buChar char="•"/>
            </a:pPr>
            <a:r>
              <a:rPr lang="en-US" dirty="0">
                <a:solidFill>
                  <a:schemeClr val="bg1"/>
                </a:solidFill>
              </a:rPr>
              <a:t>Screen readers are not narrating state information for 'Home' control while navigating using shortcut key 'B'.</a:t>
            </a:r>
          </a:p>
          <a:p>
            <a:pPr lvl="1">
              <a:buFont typeface="Arial" panose="020B0604020202020204" pitchFamily="34" charset="0"/>
              <a:buChar char="•"/>
            </a:pPr>
            <a:r>
              <a:rPr lang="en-US" dirty="0">
                <a:solidFill>
                  <a:schemeClr val="bg1"/>
                </a:solidFill>
              </a:rPr>
              <a:t>Bug 1517959</a:t>
            </a:r>
          </a:p>
          <a:p>
            <a:pPr lvl="2">
              <a:buFont typeface="Arial" panose="020B0604020202020204" pitchFamily="34" charset="0"/>
              <a:buChar char="•"/>
            </a:pPr>
            <a:r>
              <a:rPr lang="en-US" dirty="0">
                <a:solidFill>
                  <a:schemeClr val="bg1"/>
                </a:solidFill>
              </a:rPr>
              <a:t>Screen readers focus is not in sequential order on the page while navigating using arrow keys in browse/VPC mode.</a:t>
            </a:r>
          </a:p>
          <a:p>
            <a:pPr lvl="1">
              <a:buFont typeface="Arial" panose="020B0604020202020204" pitchFamily="34" charset="0"/>
              <a:buChar char="•"/>
            </a:pPr>
            <a:r>
              <a:rPr lang="en-US" dirty="0">
                <a:solidFill>
                  <a:schemeClr val="bg1"/>
                </a:solidFill>
              </a:rPr>
              <a:t>Bug 1517996</a:t>
            </a:r>
          </a:p>
          <a:p>
            <a:pPr lvl="2">
              <a:buFont typeface="Arial" panose="020B0604020202020204" pitchFamily="34" charset="0"/>
              <a:buChar char="•"/>
            </a:pPr>
            <a:r>
              <a:rPr lang="en-US" dirty="0">
                <a:solidFill>
                  <a:schemeClr val="bg1"/>
                </a:solidFill>
              </a:rPr>
              <a:t>Screen reader does not announce any information after activating 'Bookmark', 'Mark as complete' or 'Rate content' controls.</a:t>
            </a:r>
          </a:p>
          <a:p>
            <a:pPr lvl="1">
              <a:buFont typeface="Arial" panose="020B0604020202020204" pitchFamily="34" charset="0"/>
              <a:buChar char="•"/>
            </a:pPr>
            <a:r>
              <a:rPr lang="en-US" dirty="0">
                <a:solidFill>
                  <a:schemeClr val="bg1"/>
                </a:solidFill>
              </a:rPr>
              <a:t>Bug 1517982</a:t>
            </a:r>
          </a:p>
          <a:p>
            <a:pPr lvl="2">
              <a:buFont typeface="Arial" panose="020B0604020202020204" pitchFamily="34" charset="0"/>
              <a:buChar char="•"/>
            </a:pPr>
            <a:r>
              <a:rPr lang="en-US" dirty="0">
                <a:solidFill>
                  <a:schemeClr val="bg1"/>
                </a:solidFill>
              </a:rPr>
              <a:t>Screen reader focus moving multiple times to buttons in the page while navigating using the down arrow key.</a:t>
            </a:r>
          </a:p>
        </p:txBody>
      </p:sp>
      <p:sp>
        <p:nvSpPr>
          <p:cNvPr id="8" name="TextBox 7">
            <a:extLst>
              <a:ext uri="{FF2B5EF4-FFF2-40B4-BE49-F238E27FC236}">
                <a16:creationId xmlns:a16="http://schemas.microsoft.com/office/drawing/2014/main" id="{E1D43C8E-CB8F-0231-72B3-F94731365B2B}"/>
              </a:ext>
            </a:extLst>
          </p:cNvPr>
          <p:cNvSpPr txBox="1"/>
          <p:nvPr/>
        </p:nvSpPr>
        <p:spPr>
          <a:xfrm>
            <a:off x="759853" y="195862"/>
            <a:ext cx="9815783" cy="1077218"/>
          </a:xfrm>
          <a:prstGeom prst="rect">
            <a:avLst/>
          </a:prstGeom>
          <a:noFill/>
        </p:spPr>
        <p:txBody>
          <a:bodyPr wrap="square" rtlCol="0">
            <a:spAutoFit/>
          </a:bodyPr>
          <a:lstStyle/>
          <a:p>
            <a:r>
              <a:rPr lang="en-US" sz="3200" u="sng">
                <a:solidFill>
                  <a:schemeClr val="bg1"/>
                </a:solidFill>
              </a:rPr>
              <a:t>Accessibility Challenges: Screen reader</a:t>
            </a:r>
          </a:p>
          <a:p>
            <a:r>
              <a:rPr lang="en-US" sz="3200" u="sng">
                <a:solidFill>
                  <a:schemeClr val="bg1"/>
                </a:solidFill>
              </a:rPr>
              <a:t> </a:t>
            </a:r>
          </a:p>
        </p:txBody>
      </p:sp>
    </p:spTree>
    <p:extLst>
      <p:ext uri="{BB962C8B-B14F-4D97-AF65-F5344CB8AC3E}">
        <p14:creationId xmlns:p14="http://schemas.microsoft.com/office/powerpoint/2010/main" val="1566022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26F540F-8D96-301E-B86C-4179B38AC7BD}"/>
              </a:ext>
            </a:extLst>
          </p:cNvPr>
          <p:cNvSpPr>
            <a:spLocks noGrp="1"/>
          </p:cNvSpPr>
          <p:nvPr>
            <p:ph idx="1"/>
          </p:nvPr>
        </p:nvSpPr>
        <p:spPr>
          <a:xfrm>
            <a:off x="759853" y="1273080"/>
            <a:ext cx="5539347" cy="4610484"/>
          </a:xfrm>
        </p:spPr>
        <p:txBody>
          <a:bodyPr>
            <a:normAutofit/>
          </a:bodyPr>
          <a:lstStyle/>
          <a:p>
            <a:pPr>
              <a:buFont typeface="Arial" panose="020B0604020202020204" pitchFamily="34" charset="0"/>
              <a:buChar char="•"/>
            </a:pPr>
            <a:r>
              <a:rPr lang="en-US" sz="1800" u="sng">
                <a:solidFill>
                  <a:schemeClr val="bg1"/>
                </a:solidFill>
              </a:rPr>
              <a:t>Tools:</a:t>
            </a:r>
          </a:p>
          <a:p>
            <a:pPr lvl="1">
              <a:buFont typeface="Arial" panose="020B0604020202020204" pitchFamily="34" charset="0"/>
              <a:buChar char="•"/>
            </a:pPr>
            <a:r>
              <a:rPr lang="en-US" sz="1600" u="sng">
                <a:solidFill>
                  <a:schemeClr val="bg1"/>
                </a:solidFill>
              </a:rPr>
              <a:t>NVDA Screen Reader</a:t>
            </a:r>
          </a:p>
          <a:p>
            <a:pPr algn="just"/>
            <a:r>
              <a:rPr lang="en-US" sz="1600">
                <a:solidFill>
                  <a:schemeClr val="bg1"/>
                </a:solidFill>
              </a:rPr>
              <a:t>The screen reader tool will come in handy when accessibility creates bugs about the reader not narrating the way it should.</a:t>
            </a:r>
          </a:p>
          <a:p>
            <a:pPr algn="just"/>
            <a:r>
              <a:rPr lang="en-US" sz="1600">
                <a:solidFill>
                  <a:schemeClr val="bg1"/>
                </a:solidFill>
              </a:rPr>
              <a:t>This tool is the same the Accessibility Team uses, which is something one can leverage to fully correct all bugs found in the app.</a:t>
            </a:r>
          </a:p>
          <a:p>
            <a:pPr algn="just"/>
            <a:r>
              <a:rPr lang="en-US" sz="1600">
                <a:solidFill>
                  <a:schemeClr val="bg1"/>
                </a:solidFill>
              </a:rPr>
              <a:t>The tool is available for only for Windows and can be downloaded through: </a:t>
            </a:r>
            <a:r>
              <a:rPr lang="en-US" sz="1600">
                <a:hlinkClick r:id="rId2"/>
              </a:rPr>
              <a:t>NV Access | Download NVDA</a:t>
            </a:r>
            <a:endParaRPr lang="en-US" sz="1600">
              <a:solidFill>
                <a:schemeClr val="bg1"/>
              </a:solidFill>
            </a:endParaRPr>
          </a:p>
          <a:p>
            <a:pPr lvl="1">
              <a:buFont typeface="Arial" panose="020B0604020202020204" pitchFamily="34" charset="0"/>
              <a:buChar char="•"/>
            </a:pPr>
            <a:endParaRPr lang="en-US" sz="1400">
              <a:solidFill>
                <a:schemeClr val="bg1"/>
              </a:solidFill>
            </a:endParaRPr>
          </a:p>
          <a:p>
            <a:pPr lvl="1">
              <a:buFont typeface="Arial" panose="020B0604020202020204" pitchFamily="34" charset="0"/>
              <a:buChar char="•"/>
            </a:pPr>
            <a:endParaRPr lang="en-US" sz="1400">
              <a:solidFill>
                <a:schemeClr val="bg1"/>
              </a:solidFill>
            </a:endParaRPr>
          </a:p>
          <a:p>
            <a:pPr lvl="2">
              <a:buFont typeface="Arial" panose="020B0604020202020204" pitchFamily="34" charset="0"/>
              <a:buChar char="•"/>
            </a:pPr>
            <a:endParaRPr lang="en-US" sz="1100">
              <a:solidFill>
                <a:schemeClr val="bg1"/>
              </a:solidFill>
            </a:endParaRPr>
          </a:p>
        </p:txBody>
      </p:sp>
      <p:sp>
        <p:nvSpPr>
          <p:cNvPr id="8" name="TextBox 7">
            <a:extLst>
              <a:ext uri="{FF2B5EF4-FFF2-40B4-BE49-F238E27FC236}">
                <a16:creationId xmlns:a16="http://schemas.microsoft.com/office/drawing/2014/main" id="{E1D43C8E-CB8F-0231-72B3-F94731365B2B}"/>
              </a:ext>
            </a:extLst>
          </p:cNvPr>
          <p:cNvSpPr txBox="1"/>
          <p:nvPr/>
        </p:nvSpPr>
        <p:spPr>
          <a:xfrm>
            <a:off x="759853" y="253675"/>
            <a:ext cx="9815783" cy="584775"/>
          </a:xfrm>
          <a:prstGeom prst="rect">
            <a:avLst/>
          </a:prstGeom>
          <a:noFill/>
        </p:spPr>
        <p:txBody>
          <a:bodyPr wrap="square" rtlCol="0">
            <a:spAutoFit/>
          </a:bodyPr>
          <a:lstStyle/>
          <a:p>
            <a:r>
              <a:rPr lang="en-US" sz="3200" u="sng">
                <a:solidFill>
                  <a:schemeClr val="bg1"/>
                </a:solidFill>
              </a:rPr>
              <a:t>Accessibility Challenges: Screen reader</a:t>
            </a:r>
          </a:p>
        </p:txBody>
      </p:sp>
      <p:pic>
        <p:nvPicPr>
          <p:cNvPr id="3" name="Picture 2">
            <a:extLst>
              <a:ext uri="{FF2B5EF4-FFF2-40B4-BE49-F238E27FC236}">
                <a16:creationId xmlns:a16="http://schemas.microsoft.com/office/drawing/2014/main" id="{32CA9EB5-F201-B0E4-A973-169565A16F5F}"/>
              </a:ext>
            </a:extLst>
          </p:cNvPr>
          <p:cNvPicPr>
            <a:picLocks noChangeAspect="1"/>
          </p:cNvPicPr>
          <p:nvPr/>
        </p:nvPicPr>
        <p:blipFill>
          <a:blip r:embed="rId3"/>
          <a:stretch>
            <a:fillRect/>
          </a:stretch>
        </p:blipFill>
        <p:spPr>
          <a:xfrm>
            <a:off x="7934574" y="2341882"/>
            <a:ext cx="1560408" cy="1534399"/>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09931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26F540F-8D96-301E-B86C-4179B38AC7BD}"/>
              </a:ext>
            </a:extLst>
          </p:cNvPr>
          <p:cNvSpPr>
            <a:spLocks noGrp="1"/>
          </p:cNvSpPr>
          <p:nvPr>
            <p:ph idx="1"/>
          </p:nvPr>
        </p:nvSpPr>
        <p:spPr>
          <a:xfrm>
            <a:off x="835741" y="894735"/>
            <a:ext cx="11198943" cy="5289755"/>
          </a:xfrm>
        </p:spPr>
        <p:txBody>
          <a:bodyPr/>
          <a:lstStyle/>
          <a:p>
            <a:pPr>
              <a:buFont typeface="Arial" panose="020B0604020202020204" pitchFamily="34" charset="0"/>
              <a:buChar char="•"/>
            </a:pPr>
            <a:r>
              <a:rPr lang="en-US" dirty="0">
                <a:solidFill>
                  <a:schemeClr val="bg1"/>
                </a:solidFill>
              </a:rPr>
              <a:t> </a:t>
            </a:r>
            <a:r>
              <a:rPr lang="en-US" u="sng" dirty="0">
                <a:solidFill>
                  <a:schemeClr val="bg1"/>
                </a:solidFill>
              </a:rPr>
              <a:t>Main Requirements</a:t>
            </a:r>
          </a:p>
          <a:p>
            <a:pPr marL="0" indent="0">
              <a:buNone/>
            </a:pPr>
            <a:endParaRPr lang="en-US" u="sng" dirty="0">
              <a:solidFill>
                <a:schemeClr val="bg1"/>
              </a:solidFill>
            </a:endParaRPr>
          </a:p>
          <a:p>
            <a:pPr lvl="2">
              <a:buFont typeface="Arial" panose="020B0604020202020204" pitchFamily="34" charset="0"/>
              <a:buChar char="•"/>
            </a:pPr>
            <a:r>
              <a:rPr lang="en-US" dirty="0">
                <a:solidFill>
                  <a:schemeClr val="bg1"/>
                </a:solidFill>
              </a:rPr>
              <a:t>No elements should be hidden regardless of the screen size, up to 400% percent.</a:t>
            </a:r>
          </a:p>
          <a:p>
            <a:pPr lvl="2">
              <a:buFont typeface="Arial" panose="020B0604020202020204" pitchFamily="34" charset="0"/>
              <a:buChar char="•"/>
            </a:pPr>
            <a:r>
              <a:rPr lang="en-US" dirty="0">
                <a:solidFill>
                  <a:schemeClr val="bg1"/>
                </a:solidFill>
              </a:rPr>
              <a:t>No texts should become truncated, at any screen size</a:t>
            </a:r>
          </a:p>
          <a:p>
            <a:pPr lvl="2">
              <a:buFont typeface="Arial" panose="020B0604020202020204" pitchFamily="34" charset="0"/>
              <a:buChar char="•"/>
            </a:pPr>
            <a:r>
              <a:rPr lang="en-US" dirty="0">
                <a:solidFill>
                  <a:schemeClr val="bg1"/>
                </a:solidFill>
              </a:rPr>
              <a:t>Max 1 horizontal scroll bar per screen</a:t>
            </a:r>
          </a:p>
          <a:p>
            <a:pPr lvl="2">
              <a:buFont typeface="Arial" panose="020B0604020202020204" pitchFamily="34" charset="0"/>
              <a:buChar char="•"/>
            </a:pPr>
            <a:r>
              <a:rPr lang="en-US" dirty="0">
                <a:solidFill>
                  <a:schemeClr val="bg1"/>
                </a:solidFill>
              </a:rPr>
              <a:t>Max 1 vertical scrollbar per screen</a:t>
            </a:r>
          </a:p>
          <a:p>
            <a:pPr>
              <a:buFont typeface="Arial" panose="020B0604020202020204" pitchFamily="34" charset="0"/>
              <a:buChar char="•"/>
            </a:pPr>
            <a:r>
              <a:rPr lang="en-US" u="sng" dirty="0">
                <a:solidFill>
                  <a:schemeClr val="bg1"/>
                </a:solidFill>
              </a:rPr>
              <a:t> Bug examples:</a:t>
            </a:r>
          </a:p>
          <a:p>
            <a:pPr marL="0" indent="0">
              <a:buNone/>
            </a:pPr>
            <a:endParaRPr lang="en-US" u="sng" dirty="0">
              <a:solidFill>
                <a:schemeClr val="bg1"/>
              </a:solidFill>
            </a:endParaRPr>
          </a:p>
          <a:p>
            <a:pPr>
              <a:buFont typeface="Arial" panose="020B0604020202020204" pitchFamily="34" charset="0"/>
              <a:buChar char="•"/>
            </a:pPr>
            <a:r>
              <a:rPr lang="en-US" dirty="0">
                <a:solidFill>
                  <a:schemeClr val="bg1"/>
                </a:solidFill>
              </a:rPr>
              <a:t>Bug 1521839</a:t>
            </a:r>
          </a:p>
          <a:p>
            <a:pPr lvl="1">
              <a:buFont typeface="Arial" panose="020B0604020202020204" pitchFamily="34" charset="0"/>
              <a:buChar char="•"/>
            </a:pPr>
            <a:r>
              <a:rPr lang="en-US" dirty="0">
                <a:solidFill>
                  <a:schemeClr val="bg1"/>
                </a:solidFill>
              </a:rPr>
              <a:t>At 400% Zoom mode, few content present in the page getting truncated.</a:t>
            </a:r>
          </a:p>
          <a:p>
            <a:pPr>
              <a:buFont typeface="Arial" panose="020B0604020202020204" pitchFamily="34" charset="0"/>
              <a:buChar char="•"/>
            </a:pPr>
            <a:r>
              <a:rPr lang="en-US" dirty="0">
                <a:solidFill>
                  <a:schemeClr val="bg1"/>
                </a:solidFill>
              </a:rPr>
              <a:t>Bug 1521798</a:t>
            </a:r>
          </a:p>
          <a:p>
            <a:pPr lvl="1">
              <a:buFont typeface="Arial" panose="020B0604020202020204" pitchFamily="34" charset="0"/>
              <a:buChar char="•"/>
            </a:pPr>
            <a:r>
              <a:rPr lang="en-US" dirty="0">
                <a:solidFill>
                  <a:schemeClr val="bg1"/>
                </a:solidFill>
              </a:rPr>
              <a:t>After resizing the page at 200% zoom, page content is not displaying properly.</a:t>
            </a:r>
          </a:p>
          <a:p>
            <a:pPr>
              <a:buFont typeface="Arial" panose="020B0604020202020204" pitchFamily="34" charset="0"/>
              <a:buChar char="•"/>
            </a:pPr>
            <a:endParaRPr lang="en-US" dirty="0">
              <a:solidFill>
                <a:schemeClr val="bg1"/>
              </a:solidFill>
            </a:endParaRPr>
          </a:p>
        </p:txBody>
      </p:sp>
      <p:sp>
        <p:nvSpPr>
          <p:cNvPr id="8" name="TextBox 7">
            <a:extLst>
              <a:ext uri="{FF2B5EF4-FFF2-40B4-BE49-F238E27FC236}">
                <a16:creationId xmlns:a16="http://schemas.microsoft.com/office/drawing/2014/main" id="{E1D43C8E-CB8F-0231-72B3-F94731365B2B}"/>
              </a:ext>
            </a:extLst>
          </p:cNvPr>
          <p:cNvSpPr txBox="1"/>
          <p:nvPr/>
        </p:nvSpPr>
        <p:spPr>
          <a:xfrm>
            <a:off x="759853" y="253675"/>
            <a:ext cx="9815783" cy="1077218"/>
          </a:xfrm>
          <a:prstGeom prst="rect">
            <a:avLst/>
          </a:prstGeom>
          <a:noFill/>
        </p:spPr>
        <p:txBody>
          <a:bodyPr wrap="square" rtlCol="0">
            <a:spAutoFit/>
          </a:bodyPr>
          <a:lstStyle/>
          <a:p>
            <a:r>
              <a:rPr lang="en-US" sz="3200" u="sng">
                <a:solidFill>
                  <a:schemeClr val="bg1"/>
                </a:solidFill>
              </a:rPr>
              <a:t>Accessibility Challenges: Responsiveness</a:t>
            </a:r>
          </a:p>
          <a:p>
            <a:r>
              <a:rPr lang="en-US" sz="3200" u="sng">
                <a:solidFill>
                  <a:schemeClr val="bg1"/>
                </a:solidFill>
              </a:rPr>
              <a:t> </a:t>
            </a:r>
          </a:p>
        </p:txBody>
      </p:sp>
    </p:spTree>
    <p:extLst>
      <p:ext uri="{BB962C8B-B14F-4D97-AF65-F5344CB8AC3E}">
        <p14:creationId xmlns:p14="http://schemas.microsoft.com/office/powerpoint/2010/main" val="2491775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92876A-6366-A62A-2965-AAE2EB11AFE9}"/>
              </a:ext>
            </a:extLst>
          </p:cNvPr>
          <p:cNvSpPr>
            <a:spLocks noGrp="1"/>
          </p:cNvSpPr>
          <p:nvPr>
            <p:ph idx="1"/>
          </p:nvPr>
        </p:nvSpPr>
        <p:spPr>
          <a:xfrm>
            <a:off x="759853" y="1273080"/>
            <a:ext cx="5001850" cy="4610484"/>
          </a:xfrm>
        </p:spPr>
        <p:txBody>
          <a:bodyPr>
            <a:normAutofit/>
          </a:bodyPr>
          <a:lstStyle/>
          <a:p>
            <a:pPr algn="just">
              <a:buFont typeface="Arial" panose="020B0604020202020204" pitchFamily="34" charset="0"/>
              <a:buChar char="•"/>
            </a:pPr>
            <a:r>
              <a:rPr lang="en-US" sz="1800" u="sng">
                <a:solidFill>
                  <a:schemeClr val="bg1"/>
                </a:solidFill>
              </a:rPr>
              <a:t>Tools:</a:t>
            </a:r>
          </a:p>
          <a:p>
            <a:pPr marL="0" indent="0" algn="just">
              <a:buNone/>
            </a:pPr>
            <a:endParaRPr lang="en-US" sz="1800" u="sng">
              <a:solidFill>
                <a:schemeClr val="bg1"/>
              </a:solidFill>
            </a:endParaRPr>
          </a:p>
          <a:p>
            <a:pPr marL="635508" lvl="1" indent="-342900" algn="just">
              <a:buFont typeface="Arial" panose="020B0604020202020204" pitchFamily="34" charset="0"/>
              <a:buChar char="•"/>
            </a:pPr>
            <a:r>
              <a:rPr lang="en-US" sz="1600" u="sng">
                <a:solidFill>
                  <a:schemeClr val="bg1"/>
                </a:solidFill>
              </a:rPr>
              <a:t>Text Spacing Tool:</a:t>
            </a:r>
          </a:p>
          <a:p>
            <a:pPr marL="0" indent="0" algn="just">
              <a:buNone/>
            </a:pPr>
            <a:r>
              <a:rPr lang="en-US" sz="1400">
                <a:solidFill>
                  <a:schemeClr val="bg1"/>
                </a:solidFill>
              </a:rPr>
              <a:t>This tool was used to add space to the text in every element of the app to comply with accessibility standards. </a:t>
            </a:r>
          </a:p>
          <a:p>
            <a:pPr marL="0" indent="0" algn="just">
              <a:buNone/>
            </a:pPr>
            <a:r>
              <a:rPr lang="en-US" sz="1400">
                <a:solidFill>
                  <a:schemeClr val="bg1"/>
                </a:solidFill>
              </a:rPr>
              <a:t>The tool is called Stylus. It is available for Chrome and enabling Edge to install other browsers 	extensions it can be added and used in Edge as well. It can be found under the name “Stylus”. </a:t>
            </a:r>
          </a:p>
          <a:p>
            <a:pPr marL="0" indent="0" algn="just">
              <a:buNone/>
            </a:pPr>
            <a:r>
              <a:rPr lang="en-US" sz="1400">
                <a:solidFill>
                  <a:schemeClr val="bg1"/>
                </a:solidFill>
              </a:rPr>
              <a:t>This is the same tool Microsoft’s Accessibility Team used to check the app.</a:t>
            </a:r>
          </a:p>
          <a:p>
            <a:pPr marL="457200" indent="-457200">
              <a:buAutoNum type="arabicPeriod"/>
            </a:pPr>
            <a:endParaRPr lang="es-CO">
              <a:solidFill>
                <a:schemeClr val="bg1"/>
              </a:solidFill>
            </a:endParaRPr>
          </a:p>
        </p:txBody>
      </p:sp>
      <p:pic>
        <p:nvPicPr>
          <p:cNvPr id="2" name="Picture 1">
            <a:extLst>
              <a:ext uri="{FF2B5EF4-FFF2-40B4-BE49-F238E27FC236}">
                <a16:creationId xmlns:a16="http://schemas.microsoft.com/office/drawing/2014/main" id="{D471B62C-C4D8-64F2-9024-44E7D4F04694}"/>
              </a:ext>
            </a:extLst>
          </p:cNvPr>
          <p:cNvPicPr>
            <a:picLocks noChangeAspect="1"/>
          </p:cNvPicPr>
          <p:nvPr/>
        </p:nvPicPr>
        <p:blipFill>
          <a:blip r:embed="rId2"/>
          <a:stretch>
            <a:fillRect/>
          </a:stretch>
        </p:blipFill>
        <p:spPr>
          <a:xfrm>
            <a:off x="7572327" y="1669107"/>
            <a:ext cx="3272653" cy="2577214"/>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DC0ACD70-772F-E4C9-C5F4-64763728BF49}"/>
              </a:ext>
            </a:extLst>
          </p:cNvPr>
          <p:cNvSpPr txBox="1"/>
          <p:nvPr/>
        </p:nvSpPr>
        <p:spPr>
          <a:xfrm>
            <a:off x="759853" y="253675"/>
            <a:ext cx="9815783" cy="1077218"/>
          </a:xfrm>
          <a:prstGeom prst="rect">
            <a:avLst/>
          </a:prstGeom>
          <a:noFill/>
        </p:spPr>
        <p:txBody>
          <a:bodyPr wrap="square" rtlCol="0">
            <a:spAutoFit/>
          </a:bodyPr>
          <a:lstStyle/>
          <a:p>
            <a:r>
              <a:rPr lang="en-US" sz="3200" u="sng">
                <a:solidFill>
                  <a:schemeClr val="bg1"/>
                </a:solidFill>
              </a:rPr>
              <a:t>Accessibility Challenges: Responsiveness</a:t>
            </a:r>
          </a:p>
          <a:p>
            <a:r>
              <a:rPr lang="en-US" sz="3200" u="sng">
                <a:solidFill>
                  <a:schemeClr val="bg1"/>
                </a:solidFill>
              </a:rPr>
              <a:t> </a:t>
            </a:r>
          </a:p>
        </p:txBody>
      </p:sp>
    </p:spTree>
    <p:extLst>
      <p:ext uri="{BB962C8B-B14F-4D97-AF65-F5344CB8AC3E}">
        <p14:creationId xmlns:p14="http://schemas.microsoft.com/office/powerpoint/2010/main" val="1832323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92876A-6366-A62A-2965-AAE2EB11AFE9}"/>
              </a:ext>
            </a:extLst>
          </p:cNvPr>
          <p:cNvSpPr>
            <a:spLocks noGrp="1"/>
          </p:cNvSpPr>
          <p:nvPr>
            <p:ph idx="1"/>
          </p:nvPr>
        </p:nvSpPr>
        <p:spPr>
          <a:xfrm>
            <a:off x="351899" y="1273080"/>
            <a:ext cx="4718865" cy="4610484"/>
          </a:xfrm>
        </p:spPr>
        <p:txBody>
          <a:bodyPr>
            <a:normAutofit/>
          </a:bodyPr>
          <a:lstStyle/>
          <a:p>
            <a:pPr algn="just">
              <a:buFont typeface="Arial" panose="020B0604020202020204" pitchFamily="34" charset="0"/>
              <a:buChar char="•"/>
            </a:pPr>
            <a:r>
              <a:rPr lang="en-US" sz="1800" u="sng">
                <a:solidFill>
                  <a:schemeClr val="bg1"/>
                </a:solidFill>
              </a:rPr>
              <a:t>Tools:</a:t>
            </a:r>
          </a:p>
          <a:p>
            <a:pPr marL="635508" lvl="1" indent="-342900" algn="just">
              <a:buFont typeface="Arial" panose="020B0604020202020204" pitchFamily="34" charset="0"/>
              <a:buChar char="•"/>
            </a:pPr>
            <a:r>
              <a:rPr lang="en-US" sz="1600" u="sng">
                <a:solidFill>
                  <a:schemeClr val="bg1"/>
                </a:solidFill>
              </a:rPr>
              <a:t>Page Ruler</a:t>
            </a:r>
          </a:p>
          <a:p>
            <a:pPr algn="just"/>
            <a:r>
              <a:rPr lang="en-US" sz="1400">
                <a:solidFill>
                  <a:schemeClr val="bg1"/>
                </a:solidFill>
              </a:rPr>
              <a:t>The page ruler tool is useful to measure certain distances between elements.</a:t>
            </a:r>
          </a:p>
          <a:p>
            <a:pPr algn="just"/>
            <a:endParaRPr lang="es-CO" sz="1400">
              <a:solidFill>
                <a:schemeClr val="bg1"/>
              </a:solidFill>
            </a:endParaRPr>
          </a:p>
          <a:p>
            <a:pPr algn="just"/>
            <a:r>
              <a:rPr lang="en-US" sz="1400">
                <a:solidFill>
                  <a:schemeClr val="bg1"/>
                </a:solidFill>
              </a:rPr>
              <a:t>This is an extension of the browser and can be found under the name “Page Ruler”.</a:t>
            </a:r>
          </a:p>
          <a:p>
            <a:pPr algn="just"/>
            <a:endParaRPr lang="en-US" sz="1400">
              <a:solidFill>
                <a:schemeClr val="bg1"/>
              </a:solidFill>
            </a:endParaRPr>
          </a:p>
          <a:p>
            <a:pPr algn="just"/>
            <a:r>
              <a:rPr lang="en-US" sz="1400">
                <a:solidFill>
                  <a:schemeClr val="bg1"/>
                </a:solidFill>
              </a:rPr>
              <a:t>To measure accurately the app must be used with 100% mode inside the edit mode of Power Apps or 100% mode when played. </a:t>
            </a:r>
          </a:p>
          <a:p>
            <a:pPr algn="just"/>
            <a:endParaRPr lang="en-US" sz="1400">
              <a:solidFill>
                <a:schemeClr val="bg1"/>
              </a:solidFill>
            </a:endParaRPr>
          </a:p>
          <a:p>
            <a:pPr algn="just"/>
            <a:r>
              <a:rPr lang="en-US" sz="1400">
                <a:solidFill>
                  <a:schemeClr val="bg1"/>
                </a:solidFill>
              </a:rPr>
              <a:t>All measurements are displayed in </a:t>
            </a:r>
            <a:r>
              <a:rPr lang="en-US" sz="1400" err="1">
                <a:solidFill>
                  <a:schemeClr val="bg1"/>
                </a:solidFill>
              </a:rPr>
              <a:t>px</a:t>
            </a:r>
            <a:r>
              <a:rPr lang="en-US" sz="1400">
                <a:solidFill>
                  <a:schemeClr val="bg1"/>
                </a:solidFill>
              </a:rPr>
              <a:t> (pixels).</a:t>
            </a:r>
            <a:endParaRPr lang="es-CO" sz="1400">
              <a:solidFill>
                <a:schemeClr val="bg1"/>
              </a:solidFill>
            </a:endParaRPr>
          </a:p>
          <a:p>
            <a:pPr marL="635508" lvl="1" indent="-342900" algn="just">
              <a:buFont typeface="Arial" panose="020B0604020202020204" pitchFamily="34" charset="0"/>
              <a:buChar char="•"/>
            </a:pPr>
            <a:endParaRPr lang="en-US">
              <a:solidFill>
                <a:schemeClr val="bg1"/>
              </a:solidFill>
            </a:endParaRPr>
          </a:p>
          <a:p>
            <a:pPr marL="635508" lvl="1" indent="-342900" algn="just">
              <a:buFont typeface="Arial" panose="020B0604020202020204" pitchFamily="34" charset="0"/>
              <a:buChar char="•"/>
            </a:pPr>
            <a:endParaRPr lang="es-CO">
              <a:solidFill>
                <a:schemeClr val="bg1"/>
              </a:solidFill>
            </a:endParaRPr>
          </a:p>
        </p:txBody>
      </p:sp>
      <p:sp>
        <p:nvSpPr>
          <p:cNvPr id="6" name="TextBox 5">
            <a:extLst>
              <a:ext uri="{FF2B5EF4-FFF2-40B4-BE49-F238E27FC236}">
                <a16:creationId xmlns:a16="http://schemas.microsoft.com/office/drawing/2014/main" id="{DC0ACD70-772F-E4C9-C5F4-64763728BF49}"/>
              </a:ext>
            </a:extLst>
          </p:cNvPr>
          <p:cNvSpPr txBox="1"/>
          <p:nvPr/>
        </p:nvSpPr>
        <p:spPr>
          <a:xfrm>
            <a:off x="759853" y="253675"/>
            <a:ext cx="9815783" cy="1077218"/>
          </a:xfrm>
          <a:prstGeom prst="rect">
            <a:avLst/>
          </a:prstGeom>
          <a:noFill/>
        </p:spPr>
        <p:txBody>
          <a:bodyPr wrap="square" rtlCol="0">
            <a:spAutoFit/>
          </a:bodyPr>
          <a:lstStyle/>
          <a:p>
            <a:r>
              <a:rPr lang="en-US" sz="3200" u="sng">
                <a:solidFill>
                  <a:schemeClr val="bg1"/>
                </a:solidFill>
              </a:rPr>
              <a:t>Accessibility Challenges: Responsiveness</a:t>
            </a:r>
          </a:p>
          <a:p>
            <a:r>
              <a:rPr lang="en-US" sz="3200" u="sng">
                <a:solidFill>
                  <a:schemeClr val="bg1"/>
                </a:solidFill>
              </a:rPr>
              <a:t> </a:t>
            </a:r>
          </a:p>
        </p:txBody>
      </p:sp>
      <p:pic>
        <p:nvPicPr>
          <p:cNvPr id="4" name="Picture 3">
            <a:extLst>
              <a:ext uri="{FF2B5EF4-FFF2-40B4-BE49-F238E27FC236}">
                <a16:creationId xmlns:a16="http://schemas.microsoft.com/office/drawing/2014/main" id="{78BAD203-6D86-5552-F3F0-81C41B61698E}"/>
              </a:ext>
            </a:extLst>
          </p:cNvPr>
          <p:cNvPicPr>
            <a:picLocks noChangeAspect="1"/>
          </p:cNvPicPr>
          <p:nvPr/>
        </p:nvPicPr>
        <p:blipFill>
          <a:blip r:embed="rId2"/>
          <a:srcRect l="14369" t="20554"/>
          <a:stretch>
            <a:fillRect/>
          </a:stretch>
        </p:blipFill>
        <p:spPr>
          <a:xfrm>
            <a:off x="5948516" y="1917290"/>
            <a:ext cx="5547456" cy="2619626"/>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30129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E9CF0200-3B84-4A3C-8CCF-D595CFDE5523}"/>
              </a:ext>
            </a:extLst>
          </p:cNvPr>
          <p:cNvSpPr txBox="1"/>
          <p:nvPr/>
        </p:nvSpPr>
        <p:spPr>
          <a:xfrm>
            <a:off x="784079" y="162617"/>
            <a:ext cx="10114829" cy="523220"/>
          </a:xfrm>
          <a:prstGeom prst="rect">
            <a:avLst/>
          </a:prstGeom>
          <a:noFill/>
        </p:spPr>
        <p:txBody>
          <a:bodyPr wrap="square" rtlCol="0">
            <a:spAutoFit/>
          </a:bodyPr>
          <a:lstStyle/>
          <a:p>
            <a:r>
              <a:rPr lang="en-US" sz="2800" u="sng">
                <a:solidFill>
                  <a:schemeClr val="bg1"/>
                </a:solidFill>
              </a:rPr>
              <a:t>Recommendations regarding Standards &amp; Best Practices:</a:t>
            </a:r>
          </a:p>
        </p:txBody>
      </p:sp>
      <p:sp>
        <p:nvSpPr>
          <p:cNvPr id="7" name="Content Placeholder 2">
            <a:extLst>
              <a:ext uri="{FF2B5EF4-FFF2-40B4-BE49-F238E27FC236}">
                <a16:creationId xmlns:a16="http://schemas.microsoft.com/office/drawing/2014/main" id="{49F7F98D-4A61-CF2E-4B43-384727D335B4}"/>
              </a:ext>
            </a:extLst>
          </p:cNvPr>
          <p:cNvSpPr>
            <a:spLocks noGrp="1"/>
          </p:cNvSpPr>
          <p:nvPr>
            <p:ph sz="half" idx="1"/>
          </p:nvPr>
        </p:nvSpPr>
        <p:spPr>
          <a:xfrm>
            <a:off x="784079" y="685837"/>
            <a:ext cx="11093289" cy="5400927"/>
          </a:xfrm>
        </p:spPr>
        <p:txBody>
          <a:bodyPr/>
          <a:lstStyle/>
          <a:p>
            <a:pPr algn="just"/>
            <a:r>
              <a:rPr lang="en-US" sz="1800">
                <a:solidFill>
                  <a:schemeClr val="bg1"/>
                </a:solidFill>
              </a:rPr>
              <a:t>Color contrast related accessibility requirements should be considered as standards for all projects</a:t>
            </a:r>
          </a:p>
          <a:p>
            <a:pPr lvl="1" algn="just"/>
            <a:r>
              <a:rPr lang="en-US" sz="1600">
                <a:solidFill>
                  <a:schemeClr val="bg1"/>
                </a:solidFill>
              </a:rPr>
              <a:t>Most users will have a UX if color contrast standards are met, along with existing Standards defined by the Solutions team</a:t>
            </a:r>
          </a:p>
          <a:p>
            <a:pPr lvl="1" algn="just"/>
            <a:endParaRPr lang="en-US" sz="1600">
              <a:solidFill>
                <a:schemeClr val="bg1"/>
              </a:solidFill>
            </a:endParaRPr>
          </a:p>
          <a:p>
            <a:pPr algn="just"/>
            <a:r>
              <a:rPr lang="en-US" sz="1800">
                <a:solidFill>
                  <a:schemeClr val="bg1"/>
                </a:solidFill>
              </a:rPr>
              <a:t>All other accessibility requirements should be considered as </a:t>
            </a:r>
            <a:r>
              <a:rPr lang="en-US" sz="1800" b="1">
                <a:solidFill>
                  <a:schemeClr val="bg1"/>
                </a:solidFill>
              </a:rPr>
              <a:t>Standards</a:t>
            </a:r>
            <a:r>
              <a:rPr lang="en-US" sz="1800">
                <a:solidFill>
                  <a:schemeClr val="bg1"/>
                </a:solidFill>
              </a:rPr>
              <a:t> for deliverables which require D+ grade accessibility fulfillment, and as </a:t>
            </a:r>
            <a:r>
              <a:rPr lang="en-US" sz="1800" b="1">
                <a:solidFill>
                  <a:schemeClr val="bg1"/>
                </a:solidFill>
              </a:rPr>
              <a:t>Best practices</a:t>
            </a:r>
            <a:r>
              <a:rPr lang="en-US" sz="1800">
                <a:solidFill>
                  <a:schemeClr val="bg1"/>
                </a:solidFill>
              </a:rPr>
              <a:t> for other deliverables, because:</a:t>
            </a:r>
          </a:p>
          <a:p>
            <a:pPr lvl="1" algn="just"/>
            <a:r>
              <a:rPr lang="en-US" sz="1600">
                <a:solidFill>
                  <a:schemeClr val="bg1"/>
                </a:solidFill>
              </a:rPr>
              <a:t>Fulfilling accessibility standards takes a lot of effort</a:t>
            </a:r>
          </a:p>
          <a:p>
            <a:pPr lvl="1" algn="just"/>
            <a:r>
              <a:rPr lang="en-US" sz="1600">
                <a:solidFill>
                  <a:schemeClr val="bg1"/>
                </a:solidFill>
              </a:rPr>
              <a:t>The Accessibility team will only support these projects where the requirement is defined</a:t>
            </a:r>
          </a:p>
          <a:p>
            <a:pPr lvl="1" algn="just"/>
            <a:endParaRPr lang="en-US">
              <a:solidFill>
                <a:schemeClr val="bg1"/>
              </a:solidFill>
            </a:endParaRPr>
          </a:p>
          <a:p>
            <a:pPr marL="201168" lvl="1" indent="0" algn="just">
              <a:buNone/>
            </a:pPr>
            <a:r>
              <a:rPr lang="en-US" u="sng">
                <a:solidFill>
                  <a:schemeClr val="bg1"/>
                </a:solidFill>
              </a:rPr>
              <a:t>Useful link for General Accessibility Guidelines:</a:t>
            </a:r>
          </a:p>
          <a:p>
            <a:pPr lvl="1" algn="just"/>
            <a:r>
              <a:rPr lang="en-US" sz="1600">
                <a:solidFill>
                  <a:srgbClr val="0070C0"/>
                </a:solidFill>
                <a:hlinkClick r:id="rId2">
                  <a:extLst>
                    <a:ext uri="{A12FA001-AC4F-418D-AE19-62706E023703}">
                      <ahyp:hlinkClr xmlns:ahyp="http://schemas.microsoft.com/office/drawing/2018/hyperlinkcolor" val="tx"/>
                    </a:ext>
                  </a:extLst>
                </a:hlinkClick>
              </a:rPr>
              <a:t>Accessibility “Official” Design Standards: Designing for Web Accessibility – Tips for Getting Started | Web Accessibility Initiative (WAI) | W3C</a:t>
            </a:r>
            <a:endParaRPr lang="en-US" sz="1600">
              <a:solidFill>
                <a:srgbClr val="0070C0"/>
              </a:solidFill>
            </a:endParaRPr>
          </a:p>
          <a:p>
            <a:pPr lvl="1" algn="just"/>
            <a:endParaRPr lang="en-US">
              <a:solidFill>
                <a:schemeClr val="bg1"/>
              </a:solidFill>
            </a:endParaRPr>
          </a:p>
          <a:p>
            <a:pPr lvl="1" algn="just"/>
            <a:endParaRPr lang="en-US">
              <a:solidFill>
                <a:schemeClr val="bg1"/>
              </a:solidFill>
            </a:endParaRPr>
          </a:p>
          <a:p>
            <a:endParaRPr lang="en-US">
              <a:solidFill>
                <a:schemeClr val="bg1"/>
              </a:solidFill>
            </a:endParaRPr>
          </a:p>
          <a:p>
            <a:endParaRPr lang="en-US">
              <a:solidFill>
                <a:schemeClr val="bg1"/>
              </a:solidFill>
            </a:endParaRPr>
          </a:p>
        </p:txBody>
      </p:sp>
    </p:spTree>
    <p:extLst>
      <p:ext uri="{BB962C8B-B14F-4D97-AF65-F5344CB8AC3E}">
        <p14:creationId xmlns:p14="http://schemas.microsoft.com/office/powerpoint/2010/main" val="535932347"/>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CA72677B-2F8C-4192-8EBE-D360BE3B20F6}"/>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Retrospect</Template>
  <TotalTime>11</TotalTime>
  <Words>1605</Words>
  <Application>Microsoft Office PowerPoint</Application>
  <PresentationFormat>Widescreen</PresentationFormat>
  <Paragraphs>188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Segoe UI</vt:lpstr>
      <vt:lpstr>Segoe UI VSS (Regular)</vt:lpstr>
      <vt:lpstr>Retrospect</vt:lpstr>
      <vt:lpstr>Academy App Accessibility Standards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MCAPS Academy Onboarding App Design Changes</dc:title>
  <dc:creator>Keertana Namuduri</dc:creator>
  <cp:lastModifiedBy>Federico   Leal Quintero</cp:lastModifiedBy>
  <cp:revision>1</cp:revision>
  <dcterms:created xsi:type="dcterms:W3CDTF">2022-09-19T19:14:05Z</dcterms:created>
  <dcterms:modified xsi:type="dcterms:W3CDTF">2026-01-28T18:24:25Z</dcterms:modified>
</cp:coreProperties>
</file>